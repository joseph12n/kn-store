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A20227-BCB9-8E43-9ACF-AAAE9AF1A094}" v="8" dt="2024-09-04T23:53:05.57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0" d="100"/>
          <a:sy n="60" d="100"/>
        </p:scale>
        <p:origin x="78" y="108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200" b="0" i="0">
                <a:solidFill>
                  <a:schemeClr val="bg1"/>
                </a:solidFill>
                <a:latin typeface="Trebuchet MS"/>
                <a:cs typeface="Trebuchet MS"/>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400" b="0" i="0">
                <a:solidFill>
                  <a:schemeClr val="tx1"/>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bg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sz="1400" b="0" i="0">
                <a:solidFill>
                  <a:schemeClr val="tx1"/>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bg1"/>
                </a:solidFill>
                <a:latin typeface="Trebuchet MS"/>
                <a:cs typeface="Trebuchet MS"/>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9/29/2025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1999" cy="6857997"/>
          </a:xfrm>
          <a:prstGeom prst="rect">
            <a:avLst/>
          </a:prstGeom>
        </p:spPr>
      </p:pic>
      <p:sp>
        <p:nvSpPr>
          <p:cNvPr id="2" name="Holder 2"/>
          <p:cNvSpPr>
            <a:spLocks noGrp="1"/>
          </p:cNvSpPr>
          <p:nvPr>
            <p:ph type="title"/>
          </p:nvPr>
        </p:nvSpPr>
        <p:spPr/>
        <p:txBody>
          <a:bodyPr lIns="0" tIns="0" rIns="0" bIns="0"/>
          <a:lstStyle>
            <a:lvl1pPr>
              <a:defRPr sz="3200" b="0" i="0">
                <a:solidFill>
                  <a:schemeClr val="bg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9/29/2025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9/29/2025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2191999" cy="1460499"/>
          </a:xfrm>
          <a:prstGeom prst="rect">
            <a:avLst/>
          </a:prstGeom>
        </p:spPr>
      </p:pic>
      <p:sp>
        <p:nvSpPr>
          <p:cNvPr id="2" name="Holder 2"/>
          <p:cNvSpPr>
            <a:spLocks noGrp="1"/>
          </p:cNvSpPr>
          <p:nvPr>
            <p:ph type="title"/>
          </p:nvPr>
        </p:nvSpPr>
        <p:spPr>
          <a:xfrm>
            <a:off x="535025" y="252806"/>
            <a:ext cx="6445250" cy="953769"/>
          </a:xfrm>
          <a:prstGeom prst="rect">
            <a:avLst/>
          </a:prstGeom>
        </p:spPr>
        <p:txBody>
          <a:bodyPr wrap="square" lIns="0" tIns="0" rIns="0" bIns="0">
            <a:spAutoFit/>
          </a:bodyPr>
          <a:lstStyle>
            <a:lvl1pPr>
              <a:defRPr sz="3200" b="0" i="0">
                <a:solidFill>
                  <a:schemeClr val="bg1"/>
                </a:solidFill>
                <a:latin typeface="Trebuchet MS"/>
                <a:cs typeface="Trebuchet MS"/>
              </a:defRPr>
            </a:lvl1pPr>
          </a:lstStyle>
          <a:p>
            <a:endParaRPr/>
          </a:p>
        </p:txBody>
      </p:sp>
      <p:sp>
        <p:nvSpPr>
          <p:cNvPr id="3" name="Holder 3"/>
          <p:cNvSpPr>
            <a:spLocks noGrp="1"/>
          </p:cNvSpPr>
          <p:nvPr>
            <p:ph type="body" idx="1"/>
          </p:nvPr>
        </p:nvSpPr>
        <p:spPr>
          <a:xfrm>
            <a:off x="784351" y="3421760"/>
            <a:ext cx="5056505" cy="1870710"/>
          </a:xfrm>
          <a:prstGeom prst="rect">
            <a:avLst/>
          </a:prstGeom>
        </p:spPr>
        <p:txBody>
          <a:bodyPr wrap="square" lIns="0" tIns="0" rIns="0" bIns="0">
            <a:spAutoFit/>
          </a:bodyPr>
          <a:lstStyle>
            <a:lvl1pPr>
              <a:defRPr sz="1400" b="0" i="0">
                <a:solidFill>
                  <a:schemeClr val="tx1"/>
                </a:solidFill>
                <a:latin typeface="Trebuchet MS"/>
                <a:cs typeface="Trebuchet MS"/>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9/29/2025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9200" y="2424015"/>
            <a:ext cx="9244458" cy="1029128"/>
          </a:xfrm>
          <a:prstGeom prst="rect">
            <a:avLst/>
          </a:prstGeom>
        </p:spPr>
        <p:txBody>
          <a:bodyPr vert="horz" wrap="square" lIns="0" tIns="13335" rIns="0" bIns="0" rtlCol="0">
            <a:spAutoFit/>
          </a:bodyPr>
          <a:lstStyle/>
          <a:p>
            <a:pPr marL="12700" algn="ctr">
              <a:lnSpc>
                <a:spcPct val="100000"/>
              </a:lnSpc>
              <a:spcBef>
                <a:spcPts val="105"/>
              </a:spcBef>
            </a:pPr>
            <a:r>
              <a:rPr lang="es-CO" sz="6600" dirty="0">
                <a:solidFill>
                  <a:schemeClr val="tx1"/>
                </a:solidFill>
              </a:rPr>
              <a:t>KN STORE</a:t>
            </a:r>
            <a:endParaRPr sz="6200" dirty="0">
              <a:solidFill>
                <a:schemeClr val="tx1"/>
              </a:solidFill>
              <a:latin typeface="Trebuchet MS"/>
              <a:cs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p:cNvPicPr/>
            <p:nvPr/>
          </p:nvPicPr>
          <p:blipFill>
            <a:blip r:embed="rId2" cstate="print"/>
            <a:stretch>
              <a:fillRect/>
            </a:stretch>
          </p:blipFill>
          <p:spPr>
            <a:xfrm>
              <a:off x="0" y="0"/>
              <a:ext cx="12191999" cy="6857997"/>
            </a:xfrm>
            <a:prstGeom prst="rect">
              <a:avLst/>
            </a:prstGeom>
          </p:spPr>
        </p:pic>
        <p:pic>
          <p:nvPicPr>
            <p:cNvPr id="4" name="object 4"/>
            <p:cNvPicPr/>
            <p:nvPr/>
          </p:nvPicPr>
          <p:blipFill>
            <a:blip r:embed="rId3" cstate="print"/>
            <a:stretch>
              <a:fillRect/>
            </a:stretch>
          </p:blipFill>
          <p:spPr>
            <a:xfrm>
              <a:off x="11027790" y="317487"/>
              <a:ext cx="810768" cy="790587"/>
            </a:xfrm>
            <a:prstGeom prst="rect">
              <a:avLst/>
            </a:prstGeom>
          </p:spPr>
        </p:pic>
      </p:grpSp>
      <p:sp>
        <p:nvSpPr>
          <p:cNvPr id="5" name="object 5"/>
          <p:cNvSpPr txBox="1">
            <a:spLocks noGrp="1"/>
          </p:cNvSpPr>
          <p:nvPr>
            <p:ph type="title"/>
          </p:nvPr>
        </p:nvSpPr>
        <p:spPr>
          <a:xfrm>
            <a:off x="3342513" y="1548460"/>
            <a:ext cx="5508625" cy="1120820"/>
          </a:xfrm>
          <a:prstGeom prst="rect">
            <a:avLst/>
          </a:prstGeom>
        </p:spPr>
        <p:txBody>
          <a:bodyPr vert="horz" wrap="square" lIns="0" tIns="12700" rIns="0" bIns="0" rtlCol="0">
            <a:spAutoFit/>
          </a:bodyPr>
          <a:lstStyle/>
          <a:p>
            <a:pPr marL="12700" algn="ctr">
              <a:lnSpc>
                <a:spcPct val="100000"/>
              </a:lnSpc>
              <a:spcBef>
                <a:spcPts val="100"/>
              </a:spcBef>
            </a:pPr>
            <a:r>
              <a:rPr lang="es-CO" sz="7200" dirty="0"/>
              <a:t>KN STORE</a:t>
            </a:r>
            <a:endParaRPr sz="7200" dirty="0"/>
          </a:p>
        </p:txBody>
      </p:sp>
      <p:sp>
        <p:nvSpPr>
          <p:cNvPr id="6" name="object 6"/>
          <p:cNvSpPr/>
          <p:nvPr/>
        </p:nvSpPr>
        <p:spPr>
          <a:xfrm>
            <a:off x="5227954" y="3321939"/>
            <a:ext cx="1736089" cy="0"/>
          </a:xfrm>
          <a:custGeom>
            <a:avLst/>
            <a:gdLst/>
            <a:ahLst/>
            <a:cxnLst/>
            <a:rect l="l" t="t" r="r" b="b"/>
            <a:pathLst>
              <a:path w="1736090">
                <a:moveTo>
                  <a:pt x="0" y="0"/>
                </a:moveTo>
                <a:lnTo>
                  <a:pt x="1736090" y="0"/>
                </a:lnTo>
              </a:path>
            </a:pathLst>
          </a:custGeom>
          <a:ln w="9525">
            <a:solidFill>
              <a:srgbClr val="FFFFFF"/>
            </a:solidFill>
          </a:ln>
        </p:spPr>
        <p:txBody>
          <a:bodyPr wrap="square" lIns="0" tIns="0" rIns="0" bIns="0" rtlCol="0"/>
          <a:lstStyle/>
          <a:p>
            <a:endParaRPr/>
          </a:p>
        </p:txBody>
      </p:sp>
      <p:sp>
        <p:nvSpPr>
          <p:cNvPr id="7" name="object 7"/>
          <p:cNvSpPr txBox="1"/>
          <p:nvPr/>
        </p:nvSpPr>
        <p:spPr>
          <a:xfrm>
            <a:off x="4251705" y="3488563"/>
            <a:ext cx="3688715" cy="1243289"/>
          </a:xfrm>
          <a:prstGeom prst="rect">
            <a:avLst/>
          </a:prstGeom>
        </p:spPr>
        <p:txBody>
          <a:bodyPr vert="horz" wrap="square" lIns="0" tIns="12065" rIns="0" bIns="0" rtlCol="0">
            <a:spAutoFit/>
          </a:bodyPr>
          <a:lstStyle/>
          <a:p>
            <a:pPr algn="ctr"/>
            <a:endParaRPr lang="es-MX" sz="1600" dirty="0">
              <a:solidFill>
                <a:schemeClr val="bg1"/>
              </a:solidFill>
            </a:endParaRPr>
          </a:p>
          <a:p>
            <a:pPr algn="ctr"/>
            <a:r>
              <a:rPr lang="es-MX" sz="1600" dirty="0">
                <a:solidFill>
                  <a:schemeClr val="bg1"/>
                </a:solidFill>
              </a:rPr>
              <a:t>Santiago Flórez Moreno</a:t>
            </a:r>
            <a:br>
              <a:rPr lang="es-MX" sz="1600" dirty="0">
                <a:solidFill>
                  <a:schemeClr val="bg1"/>
                </a:solidFill>
              </a:rPr>
            </a:br>
            <a:r>
              <a:rPr lang="es-MX" sz="1600" dirty="0">
                <a:solidFill>
                  <a:schemeClr val="bg1"/>
                </a:solidFill>
              </a:rPr>
              <a:t>Laura González Ortiz</a:t>
            </a:r>
            <a:br>
              <a:rPr lang="es-MX" sz="1600" dirty="0">
                <a:solidFill>
                  <a:schemeClr val="bg1"/>
                </a:solidFill>
              </a:rPr>
            </a:br>
            <a:r>
              <a:rPr lang="es-MX" sz="1600" dirty="0">
                <a:solidFill>
                  <a:schemeClr val="bg1"/>
                </a:solidFill>
              </a:rPr>
              <a:t>Joseph Varón</a:t>
            </a:r>
            <a:br>
              <a:rPr lang="es-MX" sz="1600" dirty="0">
                <a:solidFill>
                  <a:schemeClr val="bg1"/>
                </a:solidFill>
              </a:rPr>
            </a:br>
            <a:r>
              <a:rPr lang="es-MX" sz="1600" dirty="0">
                <a:solidFill>
                  <a:schemeClr val="bg1"/>
                </a:solidFill>
              </a:rPr>
              <a:t>Nicolas Gil</a:t>
            </a:r>
            <a:endParaRPr sz="1600" dirty="0">
              <a:solidFill>
                <a:schemeClr val="bg1"/>
              </a:solidFill>
              <a:latin typeface="Trebuchet MS"/>
              <a:cs typeface="Trebuchet MS"/>
            </a:endParaRPr>
          </a:p>
        </p:txBody>
      </p:sp>
      <p:sp>
        <p:nvSpPr>
          <p:cNvPr id="8" name="object 8"/>
          <p:cNvSpPr txBox="1"/>
          <p:nvPr/>
        </p:nvSpPr>
        <p:spPr>
          <a:xfrm>
            <a:off x="1495425" y="5305171"/>
            <a:ext cx="9204325" cy="1000760"/>
          </a:xfrm>
          <a:prstGeom prst="rect">
            <a:avLst/>
          </a:prstGeom>
        </p:spPr>
        <p:txBody>
          <a:bodyPr vert="horz" wrap="square" lIns="0" tIns="12065" rIns="0" bIns="0" rtlCol="0">
            <a:spAutoFit/>
          </a:bodyPr>
          <a:lstStyle/>
          <a:p>
            <a:pPr marL="12700" marR="5080" algn="ctr">
              <a:lnSpc>
                <a:spcPct val="100000"/>
              </a:lnSpc>
              <a:spcBef>
                <a:spcPts val="95"/>
              </a:spcBef>
            </a:pPr>
            <a:r>
              <a:rPr sz="1600" dirty="0">
                <a:solidFill>
                  <a:srgbClr val="FFFFFF"/>
                </a:solidFill>
                <a:latin typeface="Trebuchet MS"/>
                <a:cs typeface="Trebuchet MS"/>
              </a:rPr>
              <a:t>Servicio</a:t>
            </a:r>
            <a:r>
              <a:rPr sz="1600" spc="50" dirty="0">
                <a:solidFill>
                  <a:srgbClr val="FFFFFF"/>
                </a:solidFill>
                <a:latin typeface="Trebuchet MS"/>
                <a:cs typeface="Trebuchet MS"/>
              </a:rPr>
              <a:t> </a:t>
            </a:r>
            <a:r>
              <a:rPr sz="1600" dirty="0">
                <a:solidFill>
                  <a:srgbClr val="FFFFFF"/>
                </a:solidFill>
                <a:latin typeface="Trebuchet MS"/>
                <a:cs typeface="Trebuchet MS"/>
              </a:rPr>
              <a:t>Nacional</a:t>
            </a:r>
            <a:r>
              <a:rPr sz="1600" spc="65" dirty="0">
                <a:solidFill>
                  <a:srgbClr val="FFFFFF"/>
                </a:solidFill>
                <a:latin typeface="Trebuchet MS"/>
                <a:cs typeface="Trebuchet MS"/>
              </a:rPr>
              <a:t> </a:t>
            </a:r>
            <a:r>
              <a:rPr sz="1600" dirty="0">
                <a:solidFill>
                  <a:srgbClr val="FFFFFF"/>
                </a:solidFill>
                <a:latin typeface="Trebuchet MS"/>
                <a:cs typeface="Trebuchet MS"/>
              </a:rPr>
              <a:t>de</a:t>
            </a:r>
            <a:r>
              <a:rPr sz="1600" spc="55" dirty="0">
                <a:solidFill>
                  <a:srgbClr val="FFFFFF"/>
                </a:solidFill>
                <a:latin typeface="Trebuchet MS"/>
                <a:cs typeface="Trebuchet MS"/>
              </a:rPr>
              <a:t> </a:t>
            </a:r>
            <a:r>
              <a:rPr sz="1600" spc="-10" dirty="0">
                <a:solidFill>
                  <a:srgbClr val="FFFFFF"/>
                </a:solidFill>
                <a:latin typeface="Trebuchet MS"/>
                <a:cs typeface="Trebuchet MS"/>
              </a:rPr>
              <a:t>Aprendizaje</a:t>
            </a:r>
            <a:r>
              <a:rPr sz="1600" spc="35" dirty="0">
                <a:solidFill>
                  <a:srgbClr val="FFFFFF"/>
                </a:solidFill>
                <a:latin typeface="Trebuchet MS"/>
                <a:cs typeface="Trebuchet MS"/>
              </a:rPr>
              <a:t> </a:t>
            </a:r>
            <a:r>
              <a:rPr sz="1600" spc="100" dirty="0">
                <a:solidFill>
                  <a:srgbClr val="FFFFFF"/>
                </a:solidFill>
                <a:latin typeface="Trebuchet MS"/>
                <a:cs typeface="Trebuchet MS"/>
              </a:rPr>
              <a:t>–SENA,</a:t>
            </a:r>
            <a:r>
              <a:rPr sz="1600" spc="65" dirty="0">
                <a:solidFill>
                  <a:srgbClr val="FFFFFF"/>
                </a:solidFill>
                <a:latin typeface="Trebuchet MS"/>
                <a:cs typeface="Trebuchet MS"/>
              </a:rPr>
              <a:t> </a:t>
            </a:r>
            <a:r>
              <a:rPr sz="1600" dirty="0">
                <a:solidFill>
                  <a:srgbClr val="FFFFFF"/>
                </a:solidFill>
                <a:latin typeface="Trebuchet MS"/>
                <a:cs typeface="Trebuchet MS"/>
              </a:rPr>
              <a:t>Centro</a:t>
            </a:r>
            <a:r>
              <a:rPr sz="1600" spc="50" dirty="0">
                <a:solidFill>
                  <a:srgbClr val="FFFFFF"/>
                </a:solidFill>
                <a:latin typeface="Trebuchet MS"/>
                <a:cs typeface="Trebuchet MS"/>
              </a:rPr>
              <a:t> </a:t>
            </a:r>
            <a:r>
              <a:rPr sz="1600" dirty="0">
                <a:solidFill>
                  <a:srgbClr val="FFFFFF"/>
                </a:solidFill>
                <a:latin typeface="Trebuchet MS"/>
                <a:cs typeface="Trebuchet MS"/>
              </a:rPr>
              <a:t>de</a:t>
            </a:r>
            <a:r>
              <a:rPr sz="1600" spc="70" dirty="0">
                <a:solidFill>
                  <a:srgbClr val="FFFFFF"/>
                </a:solidFill>
                <a:latin typeface="Trebuchet MS"/>
                <a:cs typeface="Trebuchet MS"/>
              </a:rPr>
              <a:t> </a:t>
            </a:r>
            <a:r>
              <a:rPr sz="1600" dirty="0">
                <a:solidFill>
                  <a:srgbClr val="FFFFFF"/>
                </a:solidFill>
                <a:latin typeface="Trebuchet MS"/>
                <a:cs typeface="Trebuchet MS"/>
              </a:rPr>
              <a:t>Electricidad</a:t>
            </a:r>
            <a:r>
              <a:rPr sz="1600" spc="35" dirty="0">
                <a:solidFill>
                  <a:srgbClr val="FFFFFF"/>
                </a:solidFill>
                <a:latin typeface="Trebuchet MS"/>
                <a:cs typeface="Trebuchet MS"/>
              </a:rPr>
              <a:t> </a:t>
            </a:r>
            <a:r>
              <a:rPr sz="1600" dirty="0">
                <a:solidFill>
                  <a:srgbClr val="FFFFFF"/>
                </a:solidFill>
                <a:latin typeface="Trebuchet MS"/>
                <a:cs typeface="Trebuchet MS"/>
              </a:rPr>
              <a:t>Electrónica</a:t>
            </a:r>
            <a:r>
              <a:rPr sz="1600" spc="35" dirty="0">
                <a:solidFill>
                  <a:srgbClr val="FFFFFF"/>
                </a:solidFill>
                <a:latin typeface="Trebuchet MS"/>
                <a:cs typeface="Trebuchet MS"/>
              </a:rPr>
              <a:t> </a:t>
            </a:r>
            <a:r>
              <a:rPr sz="1600" dirty="0">
                <a:solidFill>
                  <a:srgbClr val="FFFFFF"/>
                </a:solidFill>
                <a:latin typeface="Trebuchet MS"/>
                <a:cs typeface="Trebuchet MS"/>
              </a:rPr>
              <a:t>y</a:t>
            </a:r>
            <a:r>
              <a:rPr sz="1600" spc="100" dirty="0">
                <a:solidFill>
                  <a:srgbClr val="FFFFFF"/>
                </a:solidFill>
                <a:latin typeface="Trebuchet MS"/>
                <a:cs typeface="Trebuchet MS"/>
              </a:rPr>
              <a:t> </a:t>
            </a:r>
            <a:r>
              <a:rPr sz="1600" spc="-10" dirty="0">
                <a:solidFill>
                  <a:srgbClr val="FFFFFF"/>
                </a:solidFill>
                <a:latin typeface="Trebuchet MS"/>
                <a:cs typeface="Trebuchet MS"/>
              </a:rPr>
              <a:t>Telecomunicaciones </a:t>
            </a:r>
            <a:r>
              <a:rPr sz="1600" dirty="0" err="1">
                <a:solidFill>
                  <a:srgbClr val="FFFFFF"/>
                </a:solidFill>
                <a:latin typeface="Trebuchet MS"/>
                <a:cs typeface="Trebuchet MS"/>
              </a:rPr>
              <a:t>Téc</a:t>
            </a:r>
            <a:r>
              <a:rPr lang="es-MX" sz="1600" dirty="0" err="1">
                <a:solidFill>
                  <a:srgbClr val="FFFFFF"/>
                </a:solidFill>
                <a:latin typeface="Trebuchet MS"/>
                <a:cs typeface="Trebuchet MS"/>
              </a:rPr>
              <a:t>nologo</a:t>
            </a:r>
            <a:r>
              <a:rPr sz="1600" spc="90" dirty="0">
                <a:solidFill>
                  <a:srgbClr val="FFFFFF"/>
                </a:solidFill>
                <a:latin typeface="Trebuchet MS"/>
                <a:cs typeface="Trebuchet MS"/>
              </a:rPr>
              <a:t> </a:t>
            </a:r>
            <a:r>
              <a:rPr sz="1600" dirty="0" err="1">
                <a:solidFill>
                  <a:srgbClr val="FFFFFF"/>
                </a:solidFill>
                <a:latin typeface="Trebuchet MS"/>
                <a:cs typeface="Trebuchet MS"/>
              </a:rPr>
              <a:t>en</a:t>
            </a:r>
            <a:r>
              <a:rPr sz="1600" spc="100" dirty="0">
                <a:solidFill>
                  <a:srgbClr val="FFFFFF"/>
                </a:solidFill>
                <a:latin typeface="Trebuchet MS"/>
                <a:cs typeface="Trebuchet MS"/>
              </a:rPr>
              <a:t> </a:t>
            </a:r>
            <a:r>
              <a:rPr lang="es-MX" sz="1600" spc="100" dirty="0" err="1">
                <a:solidFill>
                  <a:srgbClr val="FFFFFF"/>
                </a:solidFill>
                <a:latin typeface="Trebuchet MS"/>
                <a:cs typeface="Trebuchet MS"/>
              </a:rPr>
              <a:t>Analisis</a:t>
            </a:r>
            <a:r>
              <a:rPr lang="es-MX" sz="1600" spc="100" dirty="0">
                <a:solidFill>
                  <a:srgbClr val="FFFFFF"/>
                </a:solidFill>
                <a:latin typeface="Trebuchet MS"/>
                <a:cs typeface="Trebuchet MS"/>
              </a:rPr>
              <a:t> y </a:t>
            </a:r>
            <a:r>
              <a:rPr lang="es-MX" sz="1600" dirty="0">
                <a:solidFill>
                  <a:srgbClr val="FFFFFF"/>
                </a:solidFill>
                <a:latin typeface="Trebuchet MS"/>
                <a:cs typeface="Trebuchet MS"/>
              </a:rPr>
              <a:t>Desarrollo</a:t>
            </a:r>
            <a:r>
              <a:rPr sz="1600" spc="85" dirty="0">
                <a:solidFill>
                  <a:srgbClr val="FFFFFF"/>
                </a:solidFill>
                <a:latin typeface="Trebuchet MS"/>
                <a:cs typeface="Trebuchet MS"/>
              </a:rPr>
              <a:t> </a:t>
            </a:r>
            <a:r>
              <a:rPr sz="1600" dirty="0">
                <a:solidFill>
                  <a:srgbClr val="FFFFFF"/>
                </a:solidFill>
                <a:latin typeface="Trebuchet MS"/>
                <a:cs typeface="Trebuchet MS"/>
              </a:rPr>
              <a:t>de</a:t>
            </a:r>
            <a:r>
              <a:rPr sz="1600" spc="95" dirty="0">
                <a:solidFill>
                  <a:srgbClr val="FFFFFF"/>
                </a:solidFill>
                <a:latin typeface="Trebuchet MS"/>
                <a:cs typeface="Trebuchet MS"/>
              </a:rPr>
              <a:t> </a:t>
            </a:r>
            <a:r>
              <a:rPr sz="1600" dirty="0">
                <a:solidFill>
                  <a:srgbClr val="FFFFFF"/>
                </a:solidFill>
                <a:latin typeface="Trebuchet MS"/>
                <a:cs typeface="Trebuchet MS"/>
              </a:rPr>
              <a:t>Software</a:t>
            </a:r>
            <a:r>
              <a:rPr sz="1600" spc="75" dirty="0">
                <a:solidFill>
                  <a:srgbClr val="FFFFFF"/>
                </a:solidFill>
                <a:latin typeface="Trebuchet MS"/>
                <a:cs typeface="Trebuchet MS"/>
              </a:rPr>
              <a:t> </a:t>
            </a:r>
            <a:r>
              <a:rPr sz="1600" spc="150" dirty="0">
                <a:solidFill>
                  <a:srgbClr val="FFFFFF"/>
                </a:solidFill>
                <a:latin typeface="Trebuchet MS"/>
                <a:cs typeface="Trebuchet MS"/>
              </a:rPr>
              <a:t>-</a:t>
            </a:r>
            <a:r>
              <a:rPr sz="1600" spc="140" dirty="0">
                <a:solidFill>
                  <a:srgbClr val="FFFFFF"/>
                </a:solidFill>
                <a:latin typeface="Trebuchet MS"/>
                <a:cs typeface="Trebuchet MS"/>
              </a:rPr>
              <a:t> </a:t>
            </a:r>
            <a:r>
              <a:rPr sz="1600" dirty="0">
                <a:solidFill>
                  <a:srgbClr val="FFFFFF"/>
                </a:solidFill>
                <a:latin typeface="Trebuchet MS"/>
                <a:cs typeface="Trebuchet MS"/>
              </a:rPr>
              <a:t>TPS,</a:t>
            </a:r>
            <a:r>
              <a:rPr sz="1600" spc="100" dirty="0">
                <a:solidFill>
                  <a:srgbClr val="FFFFFF"/>
                </a:solidFill>
                <a:latin typeface="Trebuchet MS"/>
                <a:cs typeface="Trebuchet MS"/>
              </a:rPr>
              <a:t> </a:t>
            </a:r>
            <a:r>
              <a:rPr sz="1600" dirty="0">
                <a:solidFill>
                  <a:srgbClr val="FFFFFF"/>
                </a:solidFill>
                <a:latin typeface="Trebuchet MS"/>
                <a:cs typeface="Trebuchet MS"/>
              </a:rPr>
              <a:t>Primer</a:t>
            </a:r>
            <a:r>
              <a:rPr sz="1600" spc="85" dirty="0">
                <a:solidFill>
                  <a:srgbClr val="FFFFFF"/>
                </a:solidFill>
                <a:latin typeface="Trebuchet MS"/>
                <a:cs typeface="Trebuchet MS"/>
              </a:rPr>
              <a:t> </a:t>
            </a:r>
            <a:r>
              <a:rPr sz="1600" spc="-10" dirty="0">
                <a:solidFill>
                  <a:srgbClr val="FFFFFF"/>
                </a:solidFill>
                <a:latin typeface="Trebuchet MS"/>
                <a:cs typeface="Trebuchet MS"/>
              </a:rPr>
              <a:t>Trimestre</a:t>
            </a:r>
            <a:endParaRPr sz="1600" dirty="0">
              <a:latin typeface="Trebuchet MS"/>
              <a:cs typeface="Trebuchet MS"/>
            </a:endParaRPr>
          </a:p>
          <a:p>
            <a:pPr algn="ctr">
              <a:lnSpc>
                <a:spcPct val="100000"/>
              </a:lnSpc>
            </a:pPr>
            <a:r>
              <a:rPr sz="1600" dirty="0">
                <a:solidFill>
                  <a:srgbClr val="FFFFFF"/>
                </a:solidFill>
                <a:latin typeface="Trebuchet MS"/>
                <a:cs typeface="Trebuchet MS"/>
              </a:rPr>
              <a:t>Instructor</a:t>
            </a:r>
            <a:r>
              <a:rPr sz="1600" spc="75" dirty="0">
                <a:solidFill>
                  <a:srgbClr val="FFFFFF"/>
                </a:solidFill>
                <a:latin typeface="Trebuchet MS"/>
                <a:cs typeface="Trebuchet MS"/>
              </a:rPr>
              <a:t> </a:t>
            </a:r>
            <a:r>
              <a:rPr lang="es-MX" sz="1600" spc="75" dirty="0">
                <a:solidFill>
                  <a:srgbClr val="FFFFFF"/>
                </a:solidFill>
                <a:latin typeface="Trebuchet MS"/>
                <a:cs typeface="Trebuchet MS"/>
              </a:rPr>
              <a:t>Enrique Moreno</a:t>
            </a:r>
            <a:endParaRPr sz="1600" dirty="0">
              <a:latin typeface="Trebuchet MS"/>
              <a:cs typeface="Trebuchet MS"/>
            </a:endParaRPr>
          </a:p>
          <a:p>
            <a:pPr algn="ctr">
              <a:lnSpc>
                <a:spcPct val="100000"/>
              </a:lnSpc>
            </a:pPr>
            <a:r>
              <a:rPr sz="1600" dirty="0">
                <a:solidFill>
                  <a:srgbClr val="FFFFFF"/>
                </a:solidFill>
                <a:latin typeface="Trebuchet MS"/>
                <a:cs typeface="Trebuchet MS"/>
              </a:rPr>
              <a:t>Bogotá,</a:t>
            </a:r>
            <a:r>
              <a:rPr sz="1600" spc="15" dirty="0">
                <a:solidFill>
                  <a:srgbClr val="FFFFFF"/>
                </a:solidFill>
                <a:latin typeface="Trebuchet MS"/>
                <a:cs typeface="Trebuchet MS"/>
              </a:rPr>
              <a:t> </a:t>
            </a:r>
            <a:r>
              <a:rPr sz="1600" dirty="0">
                <a:solidFill>
                  <a:srgbClr val="FFFFFF"/>
                </a:solidFill>
                <a:latin typeface="Trebuchet MS"/>
                <a:cs typeface="Trebuchet MS"/>
              </a:rPr>
              <a:t>2</a:t>
            </a:r>
            <a:r>
              <a:rPr lang="es-MX" sz="1600" dirty="0">
                <a:solidFill>
                  <a:srgbClr val="FFFFFF"/>
                </a:solidFill>
                <a:latin typeface="Trebuchet MS"/>
                <a:cs typeface="Trebuchet MS"/>
              </a:rPr>
              <a:t>9</a:t>
            </a:r>
            <a:r>
              <a:rPr sz="1600" spc="15" dirty="0">
                <a:solidFill>
                  <a:srgbClr val="FFFFFF"/>
                </a:solidFill>
                <a:latin typeface="Trebuchet MS"/>
                <a:cs typeface="Trebuchet MS"/>
              </a:rPr>
              <a:t> </a:t>
            </a:r>
            <a:r>
              <a:rPr sz="1600" dirty="0">
                <a:solidFill>
                  <a:srgbClr val="FFFFFF"/>
                </a:solidFill>
                <a:latin typeface="Trebuchet MS"/>
                <a:cs typeface="Trebuchet MS"/>
              </a:rPr>
              <a:t>de</a:t>
            </a:r>
            <a:r>
              <a:rPr sz="1600" spc="15" dirty="0">
                <a:solidFill>
                  <a:srgbClr val="FFFFFF"/>
                </a:solidFill>
                <a:latin typeface="Trebuchet MS"/>
                <a:cs typeface="Trebuchet MS"/>
              </a:rPr>
              <a:t> </a:t>
            </a:r>
            <a:r>
              <a:rPr lang="es-MX" sz="1600" spc="50" dirty="0">
                <a:solidFill>
                  <a:srgbClr val="FFFFFF"/>
                </a:solidFill>
                <a:latin typeface="Trebuchet MS"/>
                <a:cs typeface="Trebuchet MS"/>
              </a:rPr>
              <a:t>Septiembre </a:t>
            </a:r>
            <a:r>
              <a:rPr sz="1600" dirty="0">
                <a:solidFill>
                  <a:srgbClr val="FFFFFF"/>
                </a:solidFill>
                <a:latin typeface="Trebuchet MS"/>
                <a:cs typeface="Trebuchet MS"/>
              </a:rPr>
              <a:t>de</a:t>
            </a:r>
            <a:r>
              <a:rPr sz="1600" spc="20" dirty="0">
                <a:solidFill>
                  <a:srgbClr val="FFFFFF"/>
                </a:solidFill>
                <a:latin typeface="Trebuchet MS"/>
                <a:cs typeface="Trebuchet MS"/>
              </a:rPr>
              <a:t> </a:t>
            </a:r>
            <a:r>
              <a:rPr sz="1600" spc="35" dirty="0">
                <a:solidFill>
                  <a:srgbClr val="FFFFFF"/>
                </a:solidFill>
                <a:latin typeface="Trebuchet MS"/>
                <a:cs typeface="Trebuchet MS"/>
              </a:rPr>
              <a:t>202</a:t>
            </a:r>
            <a:r>
              <a:rPr lang="es-MX" sz="1600" spc="35" dirty="0">
                <a:solidFill>
                  <a:srgbClr val="FFFFFF"/>
                </a:solidFill>
                <a:latin typeface="Trebuchet MS"/>
                <a:cs typeface="Trebuchet MS"/>
              </a:rPr>
              <a:t>5</a:t>
            </a:r>
            <a:endParaRPr sz="1600" dirty="0">
              <a:latin typeface="Trebuchet MS"/>
              <a:cs typeface="Trebuchet M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662816" y="381000"/>
            <a:ext cx="6118984" cy="689932"/>
          </a:xfrm>
          <a:prstGeom prst="rect">
            <a:avLst/>
          </a:prstGeom>
        </p:spPr>
        <p:txBody>
          <a:bodyPr vert="horz" wrap="square" lIns="0" tIns="12700" rIns="0" bIns="0" rtlCol="0">
            <a:spAutoFit/>
          </a:bodyPr>
          <a:lstStyle/>
          <a:p>
            <a:pPr marL="12700">
              <a:lnSpc>
                <a:spcPct val="100000"/>
              </a:lnSpc>
              <a:spcBef>
                <a:spcPts val="100"/>
              </a:spcBef>
            </a:pPr>
            <a:r>
              <a:rPr sz="4400" spc="60" dirty="0"/>
              <a:t>Introducción</a:t>
            </a:r>
            <a:endParaRPr sz="4400" dirty="0"/>
          </a:p>
        </p:txBody>
      </p:sp>
      <p:sp>
        <p:nvSpPr>
          <p:cNvPr id="6" name="object 6"/>
          <p:cNvSpPr txBox="1"/>
          <p:nvPr/>
        </p:nvSpPr>
        <p:spPr>
          <a:xfrm>
            <a:off x="630732" y="2698445"/>
            <a:ext cx="10418268" cy="750847"/>
          </a:xfrm>
          <a:prstGeom prst="rect">
            <a:avLst/>
          </a:prstGeom>
        </p:spPr>
        <p:txBody>
          <a:bodyPr vert="horz" wrap="square" lIns="0" tIns="12065" rIns="0" bIns="0" rtlCol="0">
            <a:spAutoFit/>
          </a:bodyPr>
          <a:lstStyle/>
          <a:p>
            <a:pPr marL="12700" marR="5080">
              <a:lnSpc>
                <a:spcPct val="100000"/>
              </a:lnSpc>
              <a:spcBef>
                <a:spcPts val="95"/>
              </a:spcBef>
              <a:tabLst>
                <a:tab pos="2033270" algn="l"/>
              </a:tabLst>
            </a:pPr>
            <a:r>
              <a:rPr lang="es-MX" sz="1600" dirty="0"/>
              <a:t>Como respuesta a los problemas que estamos teniendo en la tienda KN_STORE. Hemos decidido como equipo de trabajo desarrollar un software que nos permita solucionar ciertas deficiencias tales como el mal manejo de usuarios o la ineficiencia en la respuesta de nuestros canales virtuales como WhatsApp para el manejo de ventas.</a:t>
            </a:r>
            <a:endParaRPr sz="1600" dirty="0">
              <a:latin typeface="Trebuchet MS"/>
              <a:cs typeface="Trebuchet M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81000" y="-16042"/>
            <a:ext cx="12601074" cy="7026442"/>
            <a:chOff x="0" y="0"/>
            <a:chExt cx="12192000" cy="6858000"/>
          </a:xfrm>
        </p:grpSpPr>
        <p:pic>
          <p:nvPicPr>
            <p:cNvPr id="3" name="object 3"/>
            <p:cNvPicPr/>
            <p:nvPr/>
          </p:nvPicPr>
          <p:blipFill>
            <a:blip r:embed="rId2" cstate="print"/>
            <a:stretch>
              <a:fillRect/>
            </a:stretch>
          </p:blipFill>
          <p:spPr>
            <a:xfrm>
              <a:off x="0" y="0"/>
              <a:ext cx="12191999" cy="6857997"/>
            </a:xfrm>
            <a:prstGeom prst="rect">
              <a:avLst/>
            </a:prstGeom>
          </p:spPr>
        </p:pic>
        <p:pic>
          <p:nvPicPr>
            <p:cNvPr id="4" name="object 4"/>
            <p:cNvPicPr/>
            <p:nvPr/>
          </p:nvPicPr>
          <p:blipFill>
            <a:blip r:embed="rId3" cstate="print"/>
            <a:stretch>
              <a:fillRect/>
            </a:stretch>
          </p:blipFill>
          <p:spPr>
            <a:xfrm>
              <a:off x="11027790" y="317487"/>
              <a:ext cx="810768" cy="790587"/>
            </a:xfrm>
            <a:prstGeom prst="rect">
              <a:avLst/>
            </a:prstGeom>
          </p:spPr>
        </p:pic>
      </p:grpSp>
      <p:sp>
        <p:nvSpPr>
          <p:cNvPr id="5" name="object 5"/>
          <p:cNvSpPr txBox="1">
            <a:spLocks noGrp="1"/>
          </p:cNvSpPr>
          <p:nvPr>
            <p:ph type="title"/>
          </p:nvPr>
        </p:nvSpPr>
        <p:spPr>
          <a:xfrm>
            <a:off x="535025" y="1119248"/>
            <a:ext cx="6445250" cy="795781"/>
          </a:xfrm>
          <a:prstGeom prst="rect">
            <a:avLst/>
          </a:prstGeom>
        </p:spPr>
        <p:txBody>
          <a:bodyPr vert="horz" wrap="square" lIns="0" tIns="117525" rIns="0" bIns="0" rtlCol="0">
            <a:spAutoFit/>
          </a:bodyPr>
          <a:lstStyle/>
          <a:p>
            <a:pPr marL="12700">
              <a:lnSpc>
                <a:spcPct val="100000"/>
              </a:lnSpc>
              <a:spcBef>
                <a:spcPts val="105"/>
              </a:spcBef>
            </a:pPr>
            <a:r>
              <a:rPr lang="es-CO" sz="4400" dirty="0"/>
              <a:t>Objetivo General</a:t>
            </a:r>
            <a:endParaRPr sz="4400" dirty="0"/>
          </a:p>
        </p:txBody>
      </p:sp>
      <p:sp>
        <p:nvSpPr>
          <p:cNvPr id="6" name="object 6"/>
          <p:cNvSpPr txBox="1"/>
          <p:nvPr/>
        </p:nvSpPr>
        <p:spPr>
          <a:xfrm>
            <a:off x="535025" y="2209800"/>
            <a:ext cx="9492514" cy="2968120"/>
          </a:xfrm>
          <a:prstGeom prst="rect">
            <a:avLst/>
          </a:prstGeom>
        </p:spPr>
        <p:txBody>
          <a:bodyPr vert="horz" wrap="square" lIns="0" tIns="13335" rIns="0" bIns="0" rtlCol="0">
            <a:spAutoFit/>
          </a:bodyPr>
          <a:lstStyle/>
          <a:p>
            <a:r>
              <a:rPr lang="es-MX" sz="3200" dirty="0">
                <a:solidFill>
                  <a:schemeClr val="bg1"/>
                </a:solidFill>
              </a:rPr>
              <a:t>Crear un software para la tienda KN_STORE que permita una administración eficiente de los servicios ofrecidos, el control del inventario y el proceso de compra-venta de zapatos, con el propósito de perfeccionar la gestión interna y enriquecer integralmente la experiencia del cliente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025" y="252806"/>
            <a:ext cx="6445250" cy="795781"/>
          </a:xfrm>
          <a:prstGeom prst="rect">
            <a:avLst/>
          </a:prstGeom>
        </p:spPr>
        <p:txBody>
          <a:bodyPr vert="horz" wrap="square" lIns="0" tIns="117525" rIns="0" bIns="0" rtlCol="0">
            <a:spAutoFit/>
          </a:bodyPr>
          <a:lstStyle/>
          <a:p>
            <a:pPr marL="12700">
              <a:lnSpc>
                <a:spcPct val="100000"/>
              </a:lnSpc>
              <a:spcBef>
                <a:spcPts val="105"/>
              </a:spcBef>
            </a:pPr>
            <a:r>
              <a:rPr lang="es-CO" sz="4400" dirty="0"/>
              <a:t>Objetivos Específicos</a:t>
            </a:r>
            <a:endParaRPr sz="4400" dirty="0"/>
          </a:p>
        </p:txBody>
      </p:sp>
      <p:sp>
        <p:nvSpPr>
          <p:cNvPr id="3" name="object 3"/>
          <p:cNvSpPr txBox="1"/>
          <p:nvPr/>
        </p:nvSpPr>
        <p:spPr>
          <a:xfrm>
            <a:off x="194563" y="1707260"/>
            <a:ext cx="7044437" cy="4601901"/>
          </a:xfrm>
          <a:prstGeom prst="rect">
            <a:avLst/>
          </a:prstGeom>
        </p:spPr>
        <p:txBody>
          <a:bodyPr vert="horz" wrap="square" lIns="0" tIns="13335" rIns="0" bIns="0" rtlCol="0">
            <a:spAutoFit/>
          </a:bodyPr>
          <a:lstStyle/>
          <a:p>
            <a:pPr marL="12700" marR="34290">
              <a:spcBef>
                <a:spcPts val="105"/>
              </a:spcBef>
            </a:pPr>
            <a:r>
              <a:rPr lang="es-MX" sz="2000" dirty="0"/>
              <a:t>Crear una tienda online que permita a los clientes gestionar compras, realizar pedidos y visualizar productos.</a:t>
            </a:r>
          </a:p>
          <a:p>
            <a:pPr marL="12700" marR="34290">
              <a:lnSpc>
                <a:spcPct val="100000"/>
              </a:lnSpc>
              <a:spcBef>
                <a:spcPts val="105"/>
              </a:spcBef>
            </a:pPr>
            <a:endParaRPr lang="es-CO" sz="2000" dirty="0">
              <a:latin typeface="Arial MT"/>
              <a:cs typeface="Arial MT"/>
            </a:endParaRPr>
          </a:p>
          <a:p>
            <a:pPr marL="12700" marR="34290">
              <a:spcBef>
                <a:spcPts val="105"/>
              </a:spcBef>
            </a:pPr>
            <a:r>
              <a:rPr lang="es-MX" sz="2000" dirty="0"/>
              <a:t>Diseñar tanto el manejo de usuarios como el inventario de calzado mediante dos </a:t>
            </a:r>
            <a:r>
              <a:rPr lang="es-MX" sz="2000" dirty="0" err="1"/>
              <a:t>modulos</a:t>
            </a:r>
            <a:r>
              <a:rPr lang="es-MX" sz="2000" dirty="0"/>
              <a:t>; módulo que permita la renovación, el registro y la supervisión de los productos en tiempo real. Modulo que permita el manejo de los usuario por medio de un administrador o por medio de los mismos clientes (crean, modifican, visualizan y eliminan) su propio usuario.</a:t>
            </a:r>
          </a:p>
          <a:p>
            <a:pPr marL="12700" marR="34290">
              <a:lnSpc>
                <a:spcPct val="100000"/>
              </a:lnSpc>
              <a:spcBef>
                <a:spcPts val="105"/>
              </a:spcBef>
            </a:pPr>
            <a:endParaRPr lang="es-MX" sz="2000" dirty="0">
              <a:latin typeface="Arial MT"/>
              <a:cs typeface="Arial MT"/>
            </a:endParaRPr>
          </a:p>
          <a:p>
            <a:pPr marL="12700" marR="34290">
              <a:spcBef>
                <a:spcPts val="105"/>
              </a:spcBef>
            </a:pPr>
            <a:r>
              <a:rPr lang="es-MX" sz="2000" dirty="0"/>
              <a:t>Regular la seguridad y la facilidad de uso del sistema a través de la validación de los usuarios y roles diferentes (administrador, cliente, proveedor).</a:t>
            </a:r>
          </a:p>
          <a:p>
            <a:pPr marL="12700" marR="34290">
              <a:lnSpc>
                <a:spcPct val="100000"/>
              </a:lnSpc>
              <a:spcBef>
                <a:spcPts val="105"/>
              </a:spcBef>
            </a:pPr>
            <a:endParaRPr sz="1400" dirty="0">
              <a:latin typeface="Arial MT"/>
              <a:cs typeface="Arial M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p:nvPr/>
        </p:nvSpPr>
        <p:spPr>
          <a:xfrm>
            <a:off x="268020" y="2286380"/>
            <a:ext cx="11390580" cy="2228174"/>
          </a:xfrm>
          <a:prstGeom prst="rect">
            <a:avLst/>
          </a:prstGeom>
        </p:spPr>
        <p:txBody>
          <a:bodyPr vert="horz" wrap="square" lIns="0" tIns="12065" rIns="0" bIns="0" rtlCol="0" anchor="t">
            <a:spAutoFit/>
          </a:bodyPr>
          <a:lstStyle/>
          <a:p>
            <a:r>
              <a:rPr lang="es-MX" sz="1600" dirty="0"/>
              <a:t>Actualmente, la tienda KN_STORE tiene problemas para administrar su inventario, sus ventas y la distribución de los productos. El manejo manual de estos procesos provoca problemas como el retrasos en la atención al cliente por medios virtuales, la ausencia de control sobre el inventario, la duplicidad de datos y la perdida de información.</a:t>
            </a:r>
          </a:p>
          <a:p>
            <a:endParaRPr lang="es-MX" sz="1600" dirty="0"/>
          </a:p>
          <a:p>
            <a:r>
              <a:rPr lang="es-MX" sz="1600" dirty="0"/>
              <a:t>Además, al no tener una plataforma digital hecha limita la capacidad de la tienda para llegar a un público más grande, limitando sus ventas únicamente al público a través de WhatsApp. La falta de un sistema centralizado complica la toma de decisiones basadas en datos, lo cual afecta de manera negativa la competitividad con otras empresas que ya emplean soluciones tecnológicas para optimizar sus operaciones.</a:t>
            </a:r>
          </a:p>
          <a:p>
            <a:endParaRPr lang="es-MX" sz="1600" dirty="0"/>
          </a:p>
        </p:txBody>
      </p:sp>
      <p:sp>
        <p:nvSpPr>
          <p:cNvPr id="10" name="object 10"/>
          <p:cNvSpPr txBox="1">
            <a:spLocks noGrp="1"/>
          </p:cNvSpPr>
          <p:nvPr>
            <p:ph type="title"/>
          </p:nvPr>
        </p:nvSpPr>
        <p:spPr>
          <a:xfrm>
            <a:off x="535024" y="252806"/>
            <a:ext cx="7389775" cy="798218"/>
          </a:xfrm>
          <a:prstGeom prst="rect">
            <a:avLst/>
          </a:prstGeom>
        </p:spPr>
        <p:txBody>
          <a:bodyPr vert="horz" wrap="square" lIns="0" tIns="119938" rIns="0" bIns="0" rtlCol="0">
            <a:spAutoFit/>
          </a:bodyPr>
          <a:lstStyle/>
          <a:p>
            <a:pPr marL="38735">
              <a:lnSpc>
                <a:spcPct val="100000"/>
              </a:lnSpc>
              <a:spcBef>
                <a:spcPts val="105"/>
              </a:spcBef>
            </a:pPr>
            <a:r>
              <a:rPr lang="es-CO" sz="4400" dirty="0"/>
              <a:t>Planteamiento del Problema</a:t>
            </a:r>
            <a:endParaRPr sz="4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3975" y="381000"/>
            <a:ext cx="6445250" cy="795781"/>
          </a:xfrm>
          <a:prstGeom prst="rect">
            <a:avLst/>
          </a:prstGeom>
        </p:spPr>
        <p:txBody>
          <a:bodyPr vert="horz" wrap="square" lIns="0" tIns="117525" rIns="0" bIns="0" rtlCol="0">
            <a:spAutoFit/>
          </a:bodyPr>
          <a:lstStyle/>
          <a:p>
            <a:pPr marL="12700">
              <a:lnSpc>
                <a:spcPct val="100000"/>
              </a:lnSpc>
              <a:spcBef>
                <a:spcPts val="105"/>
              </a:spcBef>
            </a:pPr>
            <a:r>
              <a:rPr lang="es-CO" sz="4400" dirty="0"/>
              <a:t>Pregunta Problema</a:t>
            </a:r>
            <a:endParaRPr sz="4400" dirty="0"/>
          </a:p>
        </p:txBody>
      </p:sp>
      <p:sp>
        <p:nvSpPr>
          <p:cNvPr id="3" name="object 3"/>
          <p:cNvSpPr txBox="1"/>
          <p:nvPr/>
        </p:nvSpPr>
        <p:spPr>
          <a:xfrm>
            <a:off x="443975" y="1752600"/>
            <a:ext cx="11304049" cy="2474395"/>
          </a:xfrm>
          <a:prstGeom prst="rect">
            <a:avLst/>
          </a:prstGeom>
        </p:spPr>
        <p:txBody>
          <a:bodyPr vert="horz" wrap="square" lIns="0" tIns="12065" rIns="0" bIns="0" rtlCol="0">
            <a:spAutoFit/>
          </a:bodyPr>
          <a:lstStyle/>
          <a:p>
            <a:r>
              <a:rPr lang="es-MX" sz="3200" dirty="0"/>
              <a:t>¿Qué clase de software se podría crear para la tienda KN_STORE que posibilitara la modernización de sus procedimientos internos y el perfeccionamiento de la experiencia de uso de compra del cliente mediante una plataforma digital eficiente?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025" y="252806"/>
            <a:ext cx="6445250" cy="795781"/>
          </a:xfrm>
          <a:prstGeom prst="rect">
            <a:avLst/>
          </a:prstGeom>
        </p:spPr>
        <p:txBody>
          <a:bodyPr vert="horz" wrap="square" lIns="0" tIns="117525" rIns="0" bIns="0" rtlCol="0">
            <a:spAutoFit/>
          </a:bodyPr>
          <a:lstStyle/>
          <a:p>
            <a:pPr marL="12700">
              <a:lnSpc>
                <a:spcPct val="100000"/>
              </a:lnSpc>
              <a:spcBef>
                <a:spcPts val="105"/>
              </a:spcBef>
            </a:pPr>
            <a:r>
              <a:rPr lang="es-MX" sz="4400" spc="370" dirty="0"/>
              <a:t>Alcance</a:t>
            </a:r>
            <a:endParaRPr sz="4400" dirty="0"/>
          </a:p>
        </p:txBody>
      </p:sp>
      <p:sp>
        <p:nvSpPr>
          <p:cNvPr id="3" name="object 3"/>
          <p:cNvSpPr txBox="1"/>
          <p:nvPr/>
        </p:nvSpPr>
        <p:spPr>
          <a:xfrm>
            <a:off x="225602" y="1524000"/>
            <a:ext cx="11740795" cy="5553443"/>
          </a:xfrm>
          <a:prstGeom prst="rect">
            <a:avLst/>
          </a:prstGeom>
        </p:spPr>
        <p:txBody>
          <a:bodyPr vert="horz" wrap="square" lIns="0" tIns="13335" rIns="0" bIns="0" rtlCol="0">
            <a:spAutoFit/>
          </a:bodyPr>
          <a:lstStyle/>
          <a:p>
            <a:r>
              <a:rPr lang="es-MX" sz="2000" dirty="0"/>
              <a:t>El alcance de nuestro proyecto es que, mediante el software de KN_STORE, se optimice la gestión interna de la tienda y el servicio al cliente. Todo esto se hace con el propósito de mejorar la efectividad en los procesos de gestión, operación y atención al cliente.</a:t>
            </a:r>
            <a:br>
              <a:rPr lang="es-MX" sz="2000" dirty="0"/>
            </a:br>
            <a:br>
              <a:rPr lang="es-MX" sz="2000" dirty="0"/>
            </a:br>
            <a:r>
              <a:rPr lang="es-MX" sz="2000" dirty="0"/>
              <a:t>Los cuatro módulos fundamentales de la aplicación que desarrollaremos son los siguientes: visualización de productos, distribución de productos y servicios, administración del inventario.</a:t>
            </a:r>
          </a:p>
          <a:p>
            <a:endParaRPr lang="es-MX" sz="2000" dirty="0"/>
          </a:p>
          <a:p>
            <a:r>
              <a:rPr lang="es-MX" sz="2000" b="1" dirty="0"/>
              <a:t>Módulo de servicios</a:t>
            </a:r>
            <a:r>
              <a:rPr lang="es-MX" sz="2000" dirty="0"/>
              <a:t>: Ofrecerá la posibilidad de visualizar, gestionar y estructurar los distintos servicios que proporciona el establecimiento a sus clientes.</a:t>
            </a:r>
          </a:p>
          <a:p>
            <a:r>
              <a:rPr lang="es-MX" sz="2000" b="1" dirty="0"/>
              <a:t>Módulo para controlar el inventario</a:t>
            </a:r>
            <a:r>
              <a:rPr lang="es-MX" sz="2000" dirty="0"/>
              <a:t>: Se realizará un seguimiento, se actualizará y se supervisará la existencia de zapatos disponibles, detallando elementos como el color, la talla, la marca y la referencia.</a:t>
            </a:r>
          </a:p>
          <a:p>
            <a:r>
              <a:rPr lang="es-MX" sz="2000" b="1" dirty="0"/>
              <a:t>Módulo de distribución de productos</a:t>
            </a:r>
            <a:r>
              <a:rPr lang="es-MX" sz="2000" dirty="0"/>
              <a:t>: La gestión del proceso para entregar los pedidos se realizará de manera manual por servicio contra entrega o por paquetería convencional, esto para que los clientes dentro de cierto rango puedan decidir su preferencia a la hora de recibir un producto.</a:t>
            </a:r>
          </a:p>
          <a:p>
            <a:r>
              <a:rPr lang="es-MX" sz="2000" b="1" dirty="0"/>
              <a:t>Módulo de visualización de productos</a:t>
            </a:r>
            <a:r>
              <a:rPr lang="es-MX" sz="2000" dirty="0"/>
              <a:t>: Los clientes tendrán la opción de explorar el catálogo digital, revisar detalles específicos de los productos disponibles y seleccionar aquellos que deseen de forma sencilla e interactiva.</a:t>
            </a:r>
          </a:p>
          <a:p>
            <a:endParaRPr lang="es-MX"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p:nvPr/>
        </p:nvSpPr>
        <p:spPr>
          <a:xfrm>
            <a:off x="4046982" y="5298441"/>
            <a:ext cx="972185" cy="45720"/>
          </a:xfrm>
          <a:custGeom>
            <a:avLst/>
            <a:gdLst/>
            <a:ahLst/>
            <a:cxnLst/>
            <a:rect l="l" t="t" r="r" b="b"/>
            <a:pathLst>
              <a:path w="972185" h="45720">
                <a:moveTo>
                  <a:pt x="971956" y="0"/>
                </a:moveTo>
                <a:lnTo>
                  <a:pt x="0" y="0"/>
                </a:lnTo>
                <a:lnTo>
                  <a:pt x="0" y="45718"/>
                </a:lnTo>
                <a:lnTo>
                  <a:pt x="971956" y="45718"/>
                </a:lnTo>
                <a:lnTo>
                  <a:pt x="971956" y="0"/>
                </a:lnTo>
                <a:close/>
              </a:path>
            </a:pathLst>
          </a:custGeom>
          <a:solidFill>
            <a:srgbClr val="D7D7D7"/>
          </a:solidFill>
        </p:spPr>
        <p:txBody>
          <a:bodyPr wrap="square" lIns="0" tIns="0" rIns="0" bIns="0" rtlCol="0"/>
          <a:lstStyle/>
          <a:p>
            <a:endParaRPr/>
          </a:p>
        </p:txBody>
      </p:sp>
      <p:sp>
        <p:nvSpPr>
          <p:cNvPr id="18" name="Título 17">
            <a:extLst>
              <a:ext uri="{FF2B5EF4-FFF2-40B4-BE49-F238E27FC236}">
                <a16:creationId xmlns:a16="http://schemas.microsoft.com/office/drawing/2014/main" id="{4B0CB2BE-FE53-720C-2903-9A10AF0A0986}"/>
              </a:ext>
            </a:extLst>
          </p:cNvPr>
          <p:cNvSpPr>
            <a:spLocks noGrp="1"/>
          </p:cNvSpPr>
          <p:nvPr>
            <p:ph type="title"/>
          </p:nvPr>
        </p:nvSpPr>
        <p:spPr>
          <a:xfrm>
            <a:off x="895496" y="400104"/>
            <a:ext cx="6445250" cy="677108"/>
          </a:xfrm>
        </p:spPr>
        <p:txBody>
          <a:bodyPr/>
          <a:lstStyle/>
          <a:p>
            <a:r>
              <a:rPr lang="es-CO" sz="4400" dirty="0"/>
              <a:t>Justificación</a:t>
            </a:r>
          </a:p>
        </p:txBody>
      </p:sp>
      <p:sp>
        <p:nvSpPr>
          <p:cNvPr id="20" name="Marcador de texto 19">
            <a:extLst>
              <a:ext uri="{FF2B5EF4-FFF2-40B4-BE49-F238E27FC236}">
                <a16:creationId xmlns:a16="http://schemas.microsoft.com/office/drawing/2014/main" id="{D0AC9E31-27EC-3121-2985-70D4B048D8DA}"/>
              </a:ext>
            </a:extLst>
          </p:cNvPr>
          <p:cNvSpPr>
            <a:spLocks noGrp="1"/>
          </p:cNvSpPr>
          <p:nvPr>
            <p:ph type="body" idx="1"/>
          </p:nvPr>
        </p:nvSpPr>
        <p:spPr>
          <a:xfrm>
            <a:off x="887475" y="1733525"/>
            <a:ext cx="10417049" cy="4216539"/>
          </a:xfrm>
        </p:spPr>
        <p:txBody>
          <a:bodyPr/>
          <a:lstStyle/>
          <a:p>
            <a:r>
              <a:rPr lang="es-MX" sz="2000" dirty="0"/>
              <a:t>La creación de un software para la tienda KN_STORE nace por la necesidad de actualizar los procedimientos vinculados con la gestión de servicios, las ventas, inventario y la distribución de productos, superando así las limitaciones del manejo manual y las compras únicamente a través de WhatsApp. Esta solución hará posible reducir las fallas administrativas, optimizar la eficiencia y expandir el negocio a través de un sistema online.</a:t>
            </a:r>
          </a:p>
          <a:p>
            <a:endParaRPr lang="es-CO" sz="2000" dirty="0"/>
          </a:p>
          <a:p>
            <a:endParaRPr lang="es-CO" sz="2000" dirty="0"/>
          </a:p>
          <a:p>
            <a:r>
              <a:rPr lang="es-MX" sz="2000" dirty="0"/>
              <a:t>Además, el sistema permitirá tomar decisiones estratégicas basándose en estadísticas e informes, y mejorará la experiencia del cliente al hacer que la compra sea más rápida, segura y confiable. De este modo, KN Store mejorará su competitividad y se consolidará como una compañía innovadora que se mantiene al tanto de las tendencias contemporáneas del comercio.</a:t>
            </a:r>
          </a:p>
          <a:p>
            <a:endParaRPr lang="es-CO"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1999" cy="685799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462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TotalTime>
  <Words>814</Words>
  <Application>Microsoft Office PowerPoint</Application>
  <PresentationFormat>Panorámica</PresentationFormat>
  <Paragraphs>35</Paragraphs>
  <Slides>10</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10</vt:i4>
      </vt:variant>
    </vt:vector>
  </HeadingPairs>
  <TitlesOfParts>
    <vt:vector size="13" baseType="lpstr">
      <vt:lpstr>Arial MT</vt:lpstr>
      <vt:lpstr>Trebuchet MS</vt:lpstr>
      <vt:lpstr>Office Theme</vt:lpstr>
      <vt:lpstr>KN STORE</vt:lpstr>
      <vt:lpstr>KN STORE</vt:lpstr>
      <vt:lpstr>Introducción</vt:lpstr>
      <vt:lpstr>Objetivo General</vt:lpstr>
      <vt:lpstr>Objetivos Específicos</vt:lpstr>
      <vt:lpstr>Planteamiento del Problema</vt:lpstr>
      <vt:lpstr>Pregunta Problema</vt:lpstr>
      <vt:lpstr>Alcance</vt:lpstr>
      <vt:lpstr>Justificación</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SENA</dc:creator>
  <cp:lastModifiedBy>SENA</cp:lastModifiedBy>
  <cp:revision>3</cp:revision>
  <dcterms:created xsi:type="dcterms:W3CDTF">2024-09-04T23:51:21Z</dcterms:created>
  <dcterms:modified xsi:type="dcterms:W3CDTF">2025-09-30T00:47:04Z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2024-09-04T00:00:00Z</vt:filetime>
  </property>
  <property fmtid="{D5CDD505-2E9C-101B-9397-08002B2CF9AE}" pid="3" name="Creator">
    <vt:lpwstr>Microsoft® PowerPoint® para Microsoft 365</vt:lpwstr>
  </property>
  <property fmtid="{D5CDD505-2E9C-101B-9397-08002B2CF9AE}" pid="4" name="LastSaved">
    <vt:filetime>2024-09-04T00:00:00Z</vt:filetime>
  </property>
  <property fmtid="{D5CDD505-2E9C-101B-9397-08002B2CF9AE}" pid="5" name="MSIP_Label_a76c2f31-3199-4c12-b982-c92587099853_ContentBits">
    <vt:lpwstr>0</vt:lpwstr>
  </property>
  <property fmtid="{D5CDD505-2E9C-101B-9397-08002B2CF9AE}" pid="6" name="MSIP_Label_a76c2f31-3199-4c12-b982-c92587099853_Enabled">
    <vt:lpwstr>true</vt:lpwstr>
  </property>
  <property fmtid="{D5CDD505-2E9C-101B-9397-08002B2CF9AE}" pid="7" name="MSIP_Label_a76c2f31-3199-4c12-b982-c92587099853_Method">
    <vt:lpwstr>Privileged</vt:lpwstr>
  </property>
  <property fmtid="{D5CDD505-2E9C-101B-9397-08002B2CF9AE}" pid="8" name="MSIP_Label_a76c2f31-3199-4c12-b982-c92587099853_SiteId">
    <vt:lpwstr>22e95ac8-1e3b-4edf-92da-03d573857579</vt:lpwstr>
  </property>
  <property fmtid="{D5CDD505-2E9C-101B-9397-08002B2CF9AE}" pid="9" name="Producer">
    <vt:lpwstr>Microsoft® PowerPoint® para Microsoft 365</vt:lpwstr>
  </property>
</Properties>
</file>