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media/image7.jpg" ContentType="image/jpeg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media/image13.JPG" ContentType="image/jpeg"/>
  <Override PartName="/ppt/media/image14.JPG" ContentType="image/jpeg"/>
  <Override PartName="/ppt/media/image15.JPG" ContentType="image/jpeg"/>
  <Override PartName="/ppt/media/image16.JPG" ContentType="image/jpeg"/>
  <Override PartName="/ppt/media/image17.JPG" ContentType="image/jpeg"/>
  <Override PartName="/ppt/media/image18.JPG" ContentType="image/jpeg"/>
  <Override PartName="/ppt/media/image20.JPG" ContentType="image/jpeg"/>
  <Override PartName="/ppt/media/image21.JPG" ContentType="image/jpeg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65" r:id="rId29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BA20227-BCB9-8E43-9ACF-AAAE9AF1A094}" v="8" dt="2024-09-04T23:53:05.578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60" d="100"/>
          <a:sy n="60" d="100"/>
        </p:scale>
        <p:origin x="1098" y="16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lagoorla\AppData\Local\Microsoft\Windows\INetCache\Content.Outlook\0DW1B68V\costos_knstore_add_matriz_ranking.xlsx" TargetMode="External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lagoorla\AppData\Local\Microsoft\Windows\INetCache\Content.Outlook\0DW1B68V\costos_knstore_add_matriz_ranking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vert="horz"/>
          <a:lstStyle/>
          <a:p>
            <a:pPr>
              <a:defRPr/>
            </a:pPr>
            <a:r>
              <a:rPr lang="es-CO"/>
              <a:t>CAPEX vs OPEX</a:t>
            </a:r>
          </a:p>
        </c:rich>
      </c:tx>
      <c:overlay val="0"/>
    </c:title>
    <c:autoTitleDeleted val="0"/>
    <c:plotArea>
      <c:layout/>
      <c:pieChart>
        <c:varyColors val="1"/>
        <c:ser>
          <c:idx val="0"/>
          <c:order val="0"/>
          <c:spPr>
            <a:ln>
              <a:noFill/>
              <a:prstDash val="solid"/>
            </a:ln>
          </c:spPr>
          <c:dPt>
            <c:idx val="0"/>
            <c:bubble3D val="0"/>
            <c:extLst>
              <c:ext xmlns:c16="http://schemas.microsoft.com/office/drawing/2014/chart" uri="{C3380CC4-5D6E-409C-BE32-E72D297353CC}">
                <c16:uniqueId val="{00000000-B962-4929-AB09-02AFFAD98F06}"/>
              </c:ext>
            </c:extLst>
          </c:dPt>
          <c:dPt>
            <c:idx val="1"/>
            <c:bubble3D val="0"/>
            <c:extLst>
              <c:ext xmlns:c16="http://schemas.microsoft.com/office/drawing/2014/chart" uri="{C3380CC4-5D6E-409C-BE32-E72D297353CC}">
                <c16:uniqueId val="{00000001-B962-4929-AB09-02AFFAD98F06}"/>
              </c:ext>
            </c:extLst>
          </c:dPt>
          <c:dLbls>
            <c:spPr>
              <a:noFill/>
              <a:ln>
                <a:noFill/>
                <a:prstDash val="solid"/>
              </a:ln>
            </c:spPr>
            <c:txPr>
              <a:bodyPr rot="0" vert="horz"/>
              <a:lstStyle/>
              <a:p>
                <a:pPr>
                  <a:defRPr/>
                </a:pPr>
                <a:endParaRPr lang="es-ES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extLst>
              <c:ext xmlns:c15="http://schemas.microsoft.com/office/drawing/2012/chart" uri="{CE6537A1-D6FC-4f65-9D91-7224C49458BB}"/>
            </c:extLst>
          </c:dLbls>
          <c:cat>
            <c:strRef>
              <c:f>'Resumen Ejecutivo'!$A$2:$A$3</c:f>
              <c:strCache>
                <c:ptCount val="2"/>
                <c:pt idx="0">
                  <c:v>CAPEX Total</c:v>
                </c:pt>
                <c:pt idx="1">
                  <c:v>OPEX Total Anual</c:v>
                </c:pt>
              </c:strCache>
            </c:strRef>
          </c:cat>
          <c:val>
            <c:numRef>
              <c:f>'Resumen Ejecutivo'!$B$2:$B$3</c:f>
              <c:numCache>
                <c:formatCode>"$"#,###.##000_);[Red]\("$"#,###.##000\)</c:formatCode>
                <c:ptCount val="2"/>
                <c:pt idx="0">
                  <c:v>33400000</c:v>
                </c:pt>
                <c:pt idx="1">
                  <c:v>3130488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B962-4929-AB09-02AFFAD98F0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</c:plotArea>
    <c:legend>
      <c:legendPos val="r"/>
      <c:overlay val="0"/>
      <c:txPr>
        <a:bodyPr rot="0" vert="horz"/>
        <a:lstStyle/>
        <a:p>
          <a:pPr>
            <a:defRPr/>
          </a:pPr>
          <a:endParaRPr lang="es-ES"/>
        </a:p>
      </c:txPr>
    </c:legend>
    <c:plotVisOnly val="1"/>
    <c:dispBlanksAs val="gap"/>
    <c:showDLblsOverMax val="0"/>
  </c:chart>
  <c:txPr>
    <a:bodyPr/>
    <a:lstStyle/>
    <a:p>
      <a:pPr>
        <a:defRPr lang="en-US"/>
      </a:pPr>
      <a:endParaRPr lang="es-CO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es-MX" sz="1800" b="1" i="0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s-CO"/>
              <a:t>Costos Totales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ln>
              <a:noFill/>
              <a:prstDash val="solid"/>
            </a:ln>
          </c:spPr>
          <c:invertIfNegative val="0"/>
          <c:dLbls>
            <c:spPr>
              <a:noFill/>
              <a:ln>
                <a:noFill/>
                <a:prstDash val="solid"/>
              </a:ln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s-MX" sz="1000" b="0" i="0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s-E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'Resumen Ejecutivo'!$A$3:$A$4</c:f>
              <c:strCache>
                <c:ptCount val="2"/>
                <c:pt idx="0">
                  <c:v>OPEX Total Anual</c:v>
                </c:pt>
                <c:pt idx="1">
                  <c:v>Costo total 3 años</c:v>
                </c:pt>
              </c:strCache>
            </c:strRef>
          </c:cat>
          <c:val>
            <c:numRef>
              <c:f>'Resumen Ejecutivo'!$B$3:$B$4</c:f>
              <c:numCache>
                <c:formatCode>"$"#,###.##000_);[Red]\("$"#,###.##000\)</c:formatCode>
                <c:ptCount val="2"/>
                <c:pt idx="0">
                  <c:v>3130488</c:v>
                </c:pt>
                <c:pt idx="1">
                  <c:v>9391464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27B-44B6-9A20-B4322A86EE8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0"/>
        <c:axId val="100"/>
      </c:barChart>
      <c:catAx>
        <c:axId val="1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es-MX" sz="1000" b="0" i="0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s-ES"/>
          </a:p>
        </c:txPr>
        <c:crossAx val="100"/>
        <c:crosses val="autoZero"/>
        <c:auto val="0"/>
        <c:lblAlgn val="ctr"/>
        <c:lblOffset val="100"/>
        <c:noMultiLvlLbl val="0"/>
      </c:catAx>
      <c:valAx>
        <c:axId val="100"/>
        <c:scaling>
          <c:orientation val="minMax"/>
        </c:scaling>
        <c:delete val="0"/>
        <c:axPos val="l"/>
        <c:majorGridlines/>
        <c:numFmt formatCode="&quot;$&quot;#,###.##000_);[Red]\(&quot;$&quot;#,###.##000\)" sourceLinked="1"/>
        <c:majorTickMark val="none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es-MX" sz="1000" b="0" i="0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s-ES"/>
          </a:p>
        </c:txPr>
        <c:crossAx val="10"/>
        <c:crosses val="autoZero"/>
        <c:crossBetween val="between"/>
      </c:valAx>
    </c:plotArea>
    <c:legend>
      <c:legendPos val="r"/>
      <c:overlay val="0"/>
      <c:txPr>
        <a:bodyPr rot="0" spcFirstLastPara="0" vertOverflow="ellipsis" vert="horz" wrap="square" anchor="ctr" anchorCtr="1"/>
        <a:lstStyle/>
        <a:p>
          <a:pPr>
            <a:defRPr lang="es-MX" sz="1000" b="0" i="0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s-ES"/>
        </a:p>
      </c:txPr>
    </c:legend>
    <c:plotVisOnly val="1"/>
    <c:dispBlanksAs val="gap"/>
    <c:showDLblsOverMax val="0"/>
  </c:chart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12/16/2025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1999" cy="6857997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12/16/2025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12/16/2025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2191999" cy="14604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35025" y="252806"/>
            <a:ext cx="6445250" cy="95376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84351" y="3421760"/>
            <a:ext cx="5056505" cy="1870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19200" y="2424015"/>
            <a:ext cx="9244458" cy="102912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5"/>
              </a:spcBef>
            </a:pPr>
            <a:r>
              <a:rPr lang="es-CO" sz="6600" dirty="0">
                <a:solidFill>
                  <a:schemeClr val="tx1"/>
                </a:solidFill>
              </a:rPr>
              <a:t>KN STORE</a:t>
            </a:r>
            <a:endParaRPr sz="6200" dirty="0">
              <a:solidFill>
                <a:schemeClr val="tx1"/>
              </a:solidFill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1999" cy="6857997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027790" y="317487"/>
              <a:ext cx="810768" cy="790587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342513" y="1548460"/>
            <a:ext cx="5508625" cy="1120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s-CO" sz="7200" dirty="0"/>
              <a:t>KN STORE</a:t>
            </a:r>
            <a:endParaRPr sz="7200" dirty="0"/>
          </a:p>
        </p:txBody>
      </p:sp>
      <p:sp>
        <p:nvSpPr>
          <p:cNvPr id="6" name="object 6"/>
          <p:cNvSpPr/>
          <p:nvPr/>
        </p:nvSpPr>
        <p:spPr>
          <a:xfrm>
            <a:off x="5227954" y="3321939"/>
            <a:ext cx="1736089" cy="0"/>
          </a:xfrm>
          <a:custGeom>
            <a:avLst/>
            <a:gdLst/>
            <a:ahLst/>
            <a:cxnLst/>
            <a:rect l="l" t="t" r="r" b="b"/>
            <a:pathLst>
              <a:path w="1736090">
                <a:moveTo>
                  <a:pt x="0" y="0"/>
                </a:moveTo>
                <a:lnTo>
                  <a:pt x="1736090" y="0"/>
                </a:lnTo>
              </a:path>
            </a:pathLst>
          </a:custGeom>
          <a:ln w="952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4251705" y="3488563"/>
            <a:ext cx="3688715" cy="124328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/>
            <a:endParaRPr lang="es-MX" sz="1600" dirty="0">
              <a:solidFill>
                <a:schemeClr val="bg1"/>
              </a:solidFill>
            </a:endParaRPr>
          </a:p>
          <a:p>
            <a:pPr algn="ctr"/>
            <a:r>
              <a:rPr lang="es-MX" sz="1600" dirty="0">
                <a:solidFill>
                  <a:schemeClr val="bg1"/>
                </a:solidFill>
              </a:rPr>
              <a:t>Santiago Flórez Moreno</a:t>
            </a:r>
            <a:br>
              <a:rPr lang="es-MX" sz="1600" dirty="0">
                <a:solidFill>
                  <a:schemeClr val="bg1"/>
                </a:solidFill>
              </a:rPr>
            </a:br>
            <a:r>
              <a:rPr lang="es-MX" sz="1600" dirty="0">
                <a:solidFill>
                  <a:schemeClr val="bg1"/>
                </a:solidFill>
              </a:rPr>
              <a:t>Laura González Ortiz</a:t>
            </a:r>
            <a:br>
              <a:rPr lang="es-MX" sz="1600" dirty="0">
                <a:solidFill>
                  <a:schemeClr val="bg1"/>
                </a:solidFill>
              </a:rPr>
            </a:br>
            <a:r>
              <a:rPr lang="es-MX" sz="1600" dirty="0">
                <a:solidFill>
                  <a:schemeClr val="bg1"/>
                </a:solidFill>
              </a:rPr>
              <a:t>Joseph Varón</a:t>
            </a:r>
            <a:br>
              <a:rPr lang="es-MX" sz="1600" dirty="0">
                <a:solidFill>
                  <a:schemeClr val="bg1"/>
                </a:solidFill>
              </a:rPr>
            </a:br>
            <a:r>
              <a:rPr lang="es-MX" sz="1600" dirty="0">
                <a:solidFill>
                  <a:schemeClr val="bg1"/>
                </a:solidFill>
              </a:rPr>
              <a:t>Nicolas Gil</a:t>
            </a:r>
            <a:endParaRPr sz="1600" dirty="0">
              <a:solidFill>
                <a:schemeClr val="bg1"/>
              </a:solidFill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495425" y="5305171"/>
            <a:ext cx="9204325" cy="1000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FFFFFF"/>
                </a:solidFill>
                <a:latin typeface="Trebuchet MS"/>
                <a:cs typeface="Trebuchet MS"/>
              </a:rPr>
              <a:t>Servicio</a:t>
            </a:r>
            <a:r>
              <a:rPr sz="1600" spc="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FFFFFF"/>
                </a:solidFill>
                <a:latin typeface="Trebuchet MS"/>
                <a:cs typeface="Trebuchet MS"/>
              </a:rPr>
              <a:t>Nacional</a:t>
            </a:r>
            <a:r>
              <a:rPr sz="1600" spc="6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FFFFFF"/>
                </a:solidFill>
                <a:latin typeface="Trebuchet MS"/>
                <a:cs typeface="Trebuchet MS"/>
              </a:rPr>
              <a:t>de</a:t>
            </a:r>
            <a:r>
              <a:rPr sz="1600" spc="5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Trebuchet MS"/>
                <a:cs typeface="Trebuchet MS"/>
              </a:rPr>
              <a:t>Aprendizaje</a:t>
            </a:r>
            <a:r>
              <a:rPr sz="1600" spc="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600" spc="100" dirty="0">
                <a:solidFill>
                  <a:srgbClr val="FFFFFF"/>
                </a:solidFill>
                <a:latin typeface="Trebuchet MS"/>
                <a:cs typeface="Trebuchet MS"/>
              </a:rPr>
              <a:t>–SENA,</a:t>
            </a:r>
            <a:r>
              <a:rPr sz="1600" spc="6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FFFFFF"/>
                </a:solidFill>
                <a:latin typeface="Trebuchet MS"/>
                <a:cs typeface="Trebuchet MS"/>
              </a:rPr>
              <a:t>Centro</a:t>
            </a:r>
            <a:r>
              <a:rPr sz="1600" spc="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FFFFFF"/>
                </a:solidFill>
                <a:latin typeface="Trebuchet MS"/>
                <a:cs typeface="Trebuchet MS"/>
              </a:rPr>
              <a:t>de</a:t>
            </a:r>
            <a:r>
              <a:rPr sz="1600" spc="7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FFFFFF"/>
                </a:solidFill>
                <a:latin typeface="Trebuchet MS"/>
                <a:cs typeface="Trebuchet MS"/>
              </a:rPr>
              <a:t>Electricidad</a:t>
            </a:r>
            <a:r>
              <a:rPr sz="1600" spc="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FFFFFF"/>
                </a:solidFill>
                <a:latin typeface="Trebuchet MS"/>
                <a:cs typeface="Trebuchet MS"/>
              </a:rPr>
              <a:t>Electrónica</a:t>
            </a:r>
            <a:r>
              <a:rPr sz="1600" spc="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FFFFFF"/>
                </a:solidFill>
                <a:latin typeface="Trebuchet MS"/>
                <a:cs typeface="Trebuchet MS"/>
              </a:rPr>
              <a:t>y</a:t>
            </a:r>
            <a:r>
              <a:rPr sz="1600" spc="10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Trebuchet MS"/>
                <a:cs typeface="Trebuchet MS"/>
              </a:rPr>
              <a:t>Telecomunicaciones </a:t>
            </a:r>
            <a:r>
              <a:rPr sz="1600" dirty="0" err="1">
                <a:solidFill>
                  <a:srgbClr val="FFFFFF"/>
                </a:solidFill>
                <a:latin typeface="Trebuchet MS"/>
                <a:cs typeface="Trebuchet MS"/>
              </a:rPr>
              <a:t>Téc</a:t>
            </a:r>
            <a:r>
              <a:rPr lang="es-MX" sz="1600" dirty="0" err="1">
                <a:solidFill>
                  <a:srgbClr val="FFFFFF"/>
                </a:solidFill>
                <a:latin typeface="Trebuchet MS"/>
                <a:cs typeface="Trebuchet MS"/>
              </a:rPr>
              <a:t>nologo</a:t>
            </a:r>
            <a:r>
              <a:rPr sz="1600" spc="9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600" dirty="0" err="1">
                <a:solidFill>
                  <a:srgbClr val="FFFFFF"/>
                </a:solidFill>
                <a:latin typeface="Trebuchet MS"/>
                <a:cs typeface="Trebuchet MS"/>
              </a:rPr>
              <a:t>en</a:t>
            </a:r>
            <a:r>
              <a:rPr sz="1600" spc="10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lang="es-MX" sz="1600" spc="100" dirty="0" err="1">
                <a:solidFill>
                  <a:srgbClr val="FFFFFF"/>
                </a:solidFill>
                <a:latin typeface="Trebuchet MS"/>
                <a:cs typeface="Trebuchet MS"/>
              </a:rPr>
              <a:t>Analisis</a:t>
            </a:r>
            <a:r>
              <a:rPr lang="es-MX" sz="1600" spc="100" dirty="0">
                <a:solidFill>
                  <a:srgbClr val="FFFFFF"/>
                </a:solidFill>
                <a:latin typeface="Trebuchet MS"/>
                <a:cs typeface="Trebuchet MS"/>
              </a:rPr>
              <a:t> y </a:t>
            </a:r>
            <a:r>
              <a:rPr lang="es-MX" sz="1600" dirty="0">
                <a:solidFill>
                  <a:srgbClr val="FFFFFF"/>
                </a:solidFill>
                <a:latin typeface="Trebuchet MS"/>
                <a:cs typeface="Trebuchet MS"/>
              </a:rPr>
              <a:t>Desarrollo</a:t>
            </a:r>
            <a:r>
              <a:rPr sz="1600" spc="8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FFFFFF"/>
                </a:solidFill>
                <a:latin typeface="Trebuchet MS"/>
                <a:cs typeface="Trebuchet MS"/>
              </a:rPr>
              <a:t>de</a:t>
            </a:r>
            <a:r>
              <a:rPr sz="1600" spc="9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FFFFFF"/>
                </a:solidFill>
                <a:latin typeface="Trebuchet MS"/>
                <a:cs typeface="Trebuchet MS"/>
              </a:rPr>
              <a:t>Software</a:t>
            </a:r>
            <a:r>
              <a:rPr sz="1600" spc="7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600" spc="150" dirty="0">
                <a:solidFill>
                  <a:srgbClr val="FFFFFF"/>
                </a:solidFill>
                <a:latin typeface="Trebuchet MS"/>
                <a:cs typeface="Trebuchet MS"/>
              </a:rPr>
              <a:t>-</a:t>
            </a:r>
            <a:r>
              <a:rPr sz="1600" spc="1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FFFFFF"/>
                </a:solidFill>
                <a:latin typeface="Trebuchet MS"/>
                <a:cs typeface="Trebuchet MS"/>
              </a:rPr>
              <a:t>TPS,</a:t>
            </a:r>
            <a:r>
              <a:rPr sz="1600" spc="10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FFFFFF"/>
                </a:solidFill>
                <a:latin typeface="Trebuchet MS"/>
                <a:cs typeface="Trebuchet MS"/>
              </a:rPr>
              <a:t>Primer</a:t>
            </a:r>
            <a:r>
              <a:rPr sz="1600" spc="8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Trebuchet MS"/>
                <a:cs typeface="Trebuchet MS"/>
              </a:rPr>
              <a:t>Trimestre</a:t>
            </a:r>
            <a:endParaRPr sz="1600" dirty="0">
              <a:latin typeface="Trebuchet MS"/>
              <a:cs typeface="Trebuchet MS"/>
            </a:endParaRPr>
          </a:p>
          <a:p>
            <a:pPr algn="ctr">
              <a:lnSpc>
                <a:spcPct val="100000"/>
              </a:lnSpc>
            </a:pPr>
            <a:r>
              <a:rPr sz="1600" dirty="0">
                <a:solidFill>
                  <a:srgbClr val="FFFFFF"/>
                </a:solidFill>
                <a:latin typeface="Trebuchet MS"/>
                <a:cs typeface="Trebuchet MS"/>
              </a:rPr>
              <a:t>Instructor</a:t>
            </a:r>
            <a:r>
              <a:rPr sz="1600" spc="7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lang="es-MX" sz="1600" spc="75" dirty="0">
                <a:solidFill>
                  <a:srgbClr val="FFFFFF"/>
                </a:solidFill>
                <a:latin typeface="Trebuchet MS"/>
                <a:cs typeface="Trebuchet MS"/>
              </a:rPr>
              <a:t>Enrique Moreno</a:t>
            </a:r>
            <a:endParaRPr sz="1600" dirty="0">
              <a:latin typeface="Trebuchet MS"/>
              <a:cs typeface="Trebuchet MS"/>
            </a:endParaRPr>
          </a:p>
          <a:p>
            <a:pPr algn="ctr">
              <a:lnSpc>
                <a:spcPct val="100000"/>
              </a:lnSpc>
            </a:pPr>
            <a:r>
              <a:rPr sz="1600" dirty="0">
                <a:solidFill>
                  <a:srgbClr val="FFFFFF"/>
                </a:solidFill>
                <a:latin typeface="Trebuchet MS"/>
                <a:cs typeface="Trebuchet MS"/>
              </a:rPr>
              <a:t>Bogotá,</a:t>
            </a:r>
            <a:r>
              <a:rPr sz="1600" spc="1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FFFFFF"/>
                </a:solidFill>
                <a:latin typeface="Trebuchet MS"/>
                <a:cs typeface="Trebuchet MS"/>
              </a:rPr>
              <a:t>2</a:t>
            </a:r>
            <a:r>
              <a:rPr lang="es-MX" sz="1600" dirty="0">
                <a:solidFill>
                  <a:srgbClr val="FFFFFF"/>
                </a:solidFill>
                <a:latin typeface="Trebuchet MS"/>
                <a:cs typeface="Trebuchet MS"/>
              </a:rPr>
              <a:t>9</a:t>
            </a:r>
            <a:r>
              <a:rPr sz="1600" spc="1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FFFFFF"/>
                </a:solidFill>
                <a:latin typeface="Trebuchet MS"/>
                <a:cs typeface="Trebuchet MS"/>
              </a:rPr>
              <a:t>de</a:t>
            </a:r>
            <a:r>
              <a:rPr sz="1600" spc="1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lang="es-MX" sz="1600" spc="50" dirty="0">
                <a:solidFill>
                  <a:srgbClr val="FFFFFF"/>
                </a:solidFill>
                <a:latin typeface="Trebuchet MS"/>
                <a:cs typeface="Trebuchet MS"/>
              </a:rPr>
              <a:t>Septiembre </a:t>
            </a:r>
            <a:r>
              <a:rPr sz="1600" dirty="0">
                <a:solidFill>
                  <a:srgbClr val="FFFFFF"/>
                </a:solidFill>
                <a:latin typeface="Trebuchet MS"/>
                <a:cs typeface="Trebuchet MS"/>
              </a:rPr>
              <a:t>de</a:t>
            </a:r>
            <a:r>
              <a:rPr sz="1600" spc="2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600" spc="35" dirty="0">
                <a:solidFill>
                  <a:srgbClr val="FFFFFF"/>
                </a:solidFill>
                <a:latin typeface="Trebuchet MS"/>
                <a:cs typeface="Trebuchet MS"/>
              </a:rPr>
              <a:t>202</a:t>
            </a:r>
            <a:r>
              <a:rPr lang="es-MX" sz="1600" spc="35" dirty="0">
                <a:solidFill>
                  <a:srgbClr val="FFFFFF"/>
                </a:solidFill>
                <a:latin typeface="Trebuchet MS"/>
                <a:cs typeface="Trebuchet MS"/>
              </a:rPr>
              <a:t>5</a:t>
            </a:r>
            <a:endParaRPr sz="1600" dirty="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662816" y="381000"/>
            <a:ext cx="6118984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spc="60" dirty="0"/>
              <a:t>Introducción</a:t>
            </a:r>
            <a:endParaRPr sz="4400" dirty="0"/>
          </a:p>
        </p:txBody>
      </p:sp>
      <p:sp>
        <p:nvSpPr>
          <p:cNvPr id="6" name="object 6"/>
          <p:cNvSpPr txBox="1"/>
          <p:nvPr/>
        </p:nvSpPr>
        <p:spPr>
          <a:xfrm>
            <a:off x="630732" y="2698445"/>
            <a:ext cx="10875468" cy="296683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  <a:tabLst>
                <a:tab pos="2033270" algn="l"/>
              </a:tabLst>
            </a:pPr>
            <a:r>
              <a:rPr lang="es-MX" sz="3200" dirty="0"/>
              <a:t>Como respuesta a los problemas que estamos teniendo en la tienda KN_STORE. Hemos decidido como equipo de trabajo desarrollar un software que nos permita solucionar ciertas deficiencias tales como el mal manejo de usuarios o la ineficiencia en la respuesta de nuestros canales virtuales como WhatsApp para el manejo de ventas.</a:t>
            </a:r>
            <a:endParaRPr sz="3200" dirty="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381000" y="-16042"/>
            <a:ext cx="12601074" cy="7026442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1999" cy="6857997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027790" y="317487"/>
              <a:ext cx="810768" cy="790587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535025" y="1119248"/>
            <a:ext cx="6445250" cy="795781"/>
          </a:xfrm>
          <a:prstGeom prst="rect">
            <a:avLst/>
          </a:prstGeom>
        </p:spPr>
        <p:txBody>
          <a:bodyPr vert="horz" wrap="square" lIns="0" tIns="117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s-CO" sz="4400" dirty="0"/>
              <a:t>Objetivo General</a:t>
            </a:r>
            <a:endParaRPr sz="4400" dirty="0"/>
          </a:p>
        </p:txBody>
      </p:sp>
      <p:sp>
        <p:nvSpPr>
          <p:cNvPr id="6" name="object 6"/>
          <p:cNvSpPr txBox="1"/>
          <p:nvPr/>
        </p:nvSpPr>
        <p:spPr>
          <a:xfrm>
            <a:off x="535024" y="2209800"/>
            <a:ext cx="11047375" cy="3460563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r>
              <a:rPr lang="es-MX" sz="3200" dirty="0"/>
              <a:t>Desarrollar un software (e-commerce) para la tienda KN_STORE que permita gestionar de manera eficientes los procesos de ventas, inventario y usuarios, mediante módulos integrados que faciliten la administración interna y mejora en la experiencia de compra del cliente, asegurando un entorno funcional, accesible y seguro.</a:t>
            </a:r>
          </a:p>
          <a:p>
            <a:endParaRPr lang="es-MX" sz="32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025" y="252806"/>
            <a:ext cx="6445250" cy="795781"/>
          </a:xfrm>
          <a:prstGeom prst="rect">
            <a:avLst/>
          </a:prstGeom>
        </p:spPr>
        <p:txBody>
          <a:bodyPr vert="horz" wrap="square" lIns="0" tIns="117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s-CO" sz="4400" dirty="0"/>
              <a:t>Objetivos Específicos</a:t>
            </a:r>
            <a:endParaRPr sz="4400" dirty="0"/>
          </a:p>
        </p:txBody>
      </p:sp>
      <p:sp>
        <p:nvSpPr>
          <p:cNvPr id="3" name="object 3"/>
          <p:cNvSpPr txBox="1"/>
          <p:nvPr/>
        </p:nvSpPr>
        <p:spPr>
          <a:xfrm>
            <a:off x="194563" y="1707260"/>
            <a:ext cx="10702037" cy="484555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s-MX" sz="2200" dirty="0"/>
              <a:t>Diseñar la estructura del sistema e-commerce, definiendo los módulos y funcionalidades necesarias para la gestión integral de la tienda KN_STORE.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MX" sz="22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MX" sz="2200" dirty="0"/>
              <a:t>Implementar una tienda online que permitan a los clientes visualizar productos , realizar pedidos y efectuar compras de forma sencilla y segura.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MX" sz="22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MX" sz="2200" dirty="0"/>
              <a:t>Desarrollar módulos de administración que gestione los usuarios y el inventario en tiempo real, optimizando el control interno de los productos y las operaciones de ventas.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MX" sz="22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MX" sz="2200" dirty="0"/>
              <a:t>Incorporar mecanismos de seguridad y roles de acceso (Administrador, cliente y proveedor) que garantice la protección de información y el uso adecuado del sistema.</a:t>
            </a:r>
          </a:p>
          <a:p>
            <a:br>
              <a:rPr lang="es-MX" sz="1400" dirty="0"/>
            </a:br>
            <a:endParaRPr sz="14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/>
          <p:nvPr/>
        </p:nvSpPr>
        <p:spPr>
          <a:xfrm>
            <a:off x="268020" y="2286380"/>
            <a:ext cx="11923980" cy="3890168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r>
              <a:rPr lang="es-MX" sz="2000" dirty="0"/>
              <a:t>En la actualidad, la tienda KN_STORE presenta diversas dificultades en la gestión de los procesos internos, especialmente en el control de inventario, las ventas y la atención al cliente. Estas tareas se realizan de forma manual, lo que genera inconsistencias en los registros, perdida de información y demoras en la atención, afectando directamente la eficiencia operativa y la satisfacción del cliente. A esto se le suma la dependencia de medios informales como WhatsApp para la gestión de ventas y pedidos, lo que limita el alcance del negocio, reduce la capacidad de respuesta y dificulta la expansión hacia nuevos mercados.</a:t>
            </a:r>
          </a:p>
          <a:p>
            <a:r>
              <a:rPr lang="es-MX" sz="2000" dirty="0"/>
              <a:t>Ante esta situación surge la necesidad de implementar un sistema de e-commerce que integre en una sola plataforma la administración de usuarios, productos, inventarios y ventas. Este sistema permitirá los procesos internos, mejorar la atención al cliente y ofrecer la experiencia de compra mas moderna, eficiente y segura.</a:t>
            </a:r>
          </a:p>
          <a:p>
            <a:endParaRPr lang="es-MX" sz="1600" dirty="0"/>
          </a:p>
          <a:p>
            <a:endParaRPr lang="es-MX" sz="1600" dirty="0"/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535024" y="252806"/>
            <a:ext cx="7389775" cy="798218"/>
          </a:xfrm>
          <a:prstGeom prst="rect">
            <a:avLst/>
          </a:prstGeom>
        </p:spPr>
        <p:txBody>
          <a:bodyPr vert="horz" wrap="square" lIns="0" tIns="119938" rIns="0" bIns="0" rtlCol="0">
            <a:spAutoFit/>
          </a:bodyPr>
          <a:lstStyle/>
          <a:p>
            <a:pPr marL="38735">
              <a:lnSpc>
                <a:spcPct val="100000"/>
              </a:lnSpc>
              <a:spcBef>
                <a:spcPts val="105"/>
              </a:spcBef>
            </a:pPr>
            <a:r>
              <a:rPr lang="es-CO" sz="4400" dirty="0"/>
              <a:t>Planteamiento del Problema</a:t>
            </a:r>
            <a:endParaRPr sz="4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3975" y="381000"/>
            <a:ext cx="6445250" cy="795781"/>
          </a:xfrm>
          <a:prstGeom prst="rect">
            <a:avLst/>
          </a:prstGeom>
        </p:spPr>
        <p:txBody>
          <a:bodyPr vert="horz" wrap="square" lIns="0" tIns="117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s-CO" sz="4400" dirty="0"/>
              <a:t>Pregunta Problema</a:t>
            </a:r>
            <a:endParaRPr sz="4400" dirty="0"/>
          </a:p>
        </p:txBody>
      </p:sp>
      <p:sp>
        <p:nvSpPr>
          <p:cNvPr id="3" name="object 3"/>
          <p:cNvSpPr txBox="1"/>
          <p:nvPr/>
        </p:nvSpPr>
        <p:spPr>
          <a:xfrm>
            <a:off x="443975" y="1752600"/>
            <a:ext cx="11304049" cy="296683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r>
              <a:rPr lang="es-MX" sz="3200" dirty="0"/>
              <a:t>¿Como la implementación de un sistema de comercio electrónico puede impulsar la transformación digital de la tienda KN_STORE, mejorando la atención al cliente y garantizando un control eficiente de los procesos internos?</a:t>
            </a:r>
          </a:p>
          <a:p>
            <a:br>
              <a:rPr lang="es-MX" sz="3200" dirty="0"/>
            </a:br>
            <a:endParaRPr lang="es-MX" sz="3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025" y="252806"/>
            <a:ext cx="6445250" cy="795781"/>
          </a:xfrm>
          <a:prstGeom prst="rect">
            <a:avLst/>
          </a:prstGeom>
        </p:spPr>
        <p:txBody>
          <a:bodyPr vert="horz" wrap="square" lIns="0" tIns="117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s-MX" sz="4400" spc="370" dirty="0"/>
              <a:t>Alcance</a:t>
            </a:r>
            <a:endParaRPr sz="4400" dirty="0"/>
          </a:p>
        </p:txBody>
      </p:sp>
      <p:sp>
        <p:nvSpPr>
          <p:cNvPr id="3" name="object 3"/>
          <p:cNvSpPr txBox="1"/>
          <p:nvPr/>
        </p:nvSpPr>
        <p:spPr>
          <a:xfrm>
            <a:off x="225602" y="1524000"/>
            <a:ext cx="11966398" cy="5584221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r>
              <a:rPr lang="es-MX" dirty="0"/>
              <a:t>El alcance de nuestro proyecto consiste en optimizar la gestión interna de la tienda y el servicio al cliente a través del software para la tienda KN_STORE. Con ello, buscamos mejorar la eficiencia de los procesos de gestión, operación y atención al cliente, garantizando un funcionamiento más ágil y eficaz.</a:t>
            </a:r>
          </a:p>
          <a:p>
            <a:endParaRPr lang="es-MX" dirty="0"/>
          </a:p>
          <a:p>
            <a:r>
              <a:rPr lang="es-MX" dirty="0"/>
              <a:t>Los cuatro módulos fundamentales de la aplicación que desarrollaremos son los siguientes: visualización de productos, distribución de productos y servicios, administración del inventario.</a:t>
            </a:r>
          </a:p>
          <a:p>
            <a:endParaRPr lang="es-MX" dirty="0"/>
          </a:p>
          <a:p>
            <a:r>
              <a:rPr lang="es-MX" b="1" dirty="0"/>
              <a:t>Módulo de servicios</a:t>
            </a:r>
            <a:r>
              <a:rPr lang="es-MX" dirty="0"/>
              <a:t>: ofrecerá la posibilidad de visualizar, gestionar y estructurar los distintos servicios que proporciona el establecimiento a sus clientes.</a:t>
            </a:r>
          </a:p>
          <a:p>
            <a:endParaRPr lang="es-MX" dirty="0"/>
          </a:p>
          <a:p>
            <a:r>
              <a:rPr lang="es-MX" b="1" dirty="0"/>
              <a:t>Módulo para controlar el inventario</a:t>
            </a:r>
            <a:r>
              <a:rPr lang="es-MX" dirty="0"/>
              <a:t>: Se realizará un seguimiento, se actualizará y se supervisará la existencia de zapatos disponibles, detallando elementos como el color, la talla, la marca y la referencia.</a:t>
            </a:r>
          </a:p>
          <a:p>
            <a:endParaRPr lang="es-MX" dirty="0"/>
          </a:p>
          <a:p>
            <a:r>
              <a:rPr lang="es-MX" b="1" dirty="0"/>
              <a:t>Módulo de distribución de productos</a:t>
            </a:r>
            <a:r>
              <a:rPr lang="es-MX" dirty="0"/>
              <a:t>: La gestión del proceso para entregar los pedidos se realizará de manera manual por servicio contra entrega o por paquetería convencional, esto para que los clientes dentro de cierto rango puedan decidir su preferencia a la hora de recibir un producto.</a:t>
            </a:r>
          </a:p>
          <a:p>
            <a:endParaRPr lang="es-MX" dirty="0"/>
          </a:p>
          <a:p>
            <a:r>
              <a:rPr lang="es-MX" b="1" dirty="0"/>
              <a:t>Módulo de visualización de productos</a:t>
            </a:r>
            <a:r>
              <a:rPr lang="es-MX" dirty="0"/>
              <a:t>: Los clientes tendrán la opción de explorar el catálogo digital, revisar detalles específicos de los productos disponibles y seleccionar aquellos que deseen de forma sencilla e interactiva.</a:t>
            </a:r>
          </a:p>
          <a:p>
            <a:endParaRPr lang="es-MX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/>
          <p:cNvSpPr/>
          <p:nvPr/>
        </p:nvSpPr>
        <p:spPr>
          <a:xfrm>
            <a:off x="4046982" y="5298441"/>
            <a:ext cx="972185" cy="45720"/>
          </a:xfrm>
          <a:custGeom>
            <a:avLst/>
            <a:gdLst/>
            <a:ahLst/>
            <a:cxnLst/>
            <a:rect l="l" t="t" r="r" b="b"/>
            <a:pathLst>
              <a:path w="972185" h="45720">
                <a:moveTo>
                  <a:pt x="971956" y="0"/>
                </a:moveTo>
                <a:lnTo>
                  <a:pt x="0" y="0"/>
                </a:lnTo>
                <a:lnTo>
                  <a:pt x="0" y="45718"/>
                </a:lnTo>
                <a:lnTo>
                  <a:pt x="971956" y="45718"/>
                </a:lnTo>
                <a:lnTo>
                  <a:pt x="971956" y="0"/>
                </a:lnTo>
                <a:close/>
              </a:path>
            </a:pathLst>
          </a:custGeom>
          <a:solidFill>
            <a:srgbClr val="D7D7D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Título 17">
            <a:extLst>
              <a:ext uri="{FF2B5EF4-FFF2-40B4-BE49-F238E27FC236}">
                <a16:creationId xmlns:a16="http://schemas.microsoft.com/office/drawing/2014/main" id="{4B0CB2BE-FE53-720C-2903-9A10AF0A09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5496" y="400104"/>
            <a:ext cx="6445250" cy="677108"/>
          </a:xfrm>
        </p:spPr>
        <p:txBody>
          <a:bodyPr/>
          <a:lstStyle/>
          <a:p>
            <a:r>
              <a:rPr lang="es-CO" sz="4400" dirty="0"/>
              <a:t>Justificación</a:t>
            </a:r>
          </a:p>
        </p:txBody>
      </p:sp>
      <p:sp>
        <p:nvSpPr>
          <p:cNvPr id="20" name="Marcador de texto 19">
            <a:extLst>
              <a:ext uri="{FF2B5EF4-FFF2-40B4-BE49-F238E27FC236}">
                <a16:creationId xmlns:a16="http://schemas.microsoft.com/office/drawing/2014/main" id="{D0AC9E31-27EC-3121-2985-70D4B048D8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87475" y="1733525"/>
            <a:ext cx="10417049" cy="4001095"/>
          </a:xfrm>
        </p:spPr>
        <p:txBody>
          <a:bodyPr/>
          <a:lstStyle/>
          <a:p>
            <a:r>
              <a:rPr lang="es-MX" sz="2400" dirty="0"/>
              <a:t>La creación de un software para la tienda KN_STORE nace por la necesidad de actualizar los procedimientos vinculados con la gestión de servicios, las ventas, inventario y la distribución de productos, superando así las limitaciones del manejo manual y las compras únicamente a través de WhatsApp.</a:t>
            </a:r>
          </a:p>
          <a:p>
            <a:r>
              <a:rPr lang="es-MX" sz="2400" dirty="0"/>
              <a:t>Con este sistema la empresa podrá optimizar la eficiencia administrativa, mejorar la atención al cliente y ampliar su alcance comercial mediante una plataforma en línea. Además , permitirá tomar decisiones basadas en datos reales, reduciendo errores y fortaleciendo la competitividad de la tienda frente al mercado actual.</a:t>
            </a:r>
          </a:p>
          <a:p>
            <a:endParaRPr lang="es-CO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A28751-5171-9699-5E13-1550B90777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>
            <a:extLst>
              <a:ext uri="{FF2B5EF4-FFF2-40B4-BE49-F238E27FC236}">
                <a16:creationId xmlns:a16="http://schemas.microsoft.com/office/drawing/2014/main" id="{A402A781-559A-8D2A-D209-BA4A977E7D57}"/>
              </a:ext>
            </a:extLst>
          </p:cNvPr>
          <p:cNvSpPr/>
          <p:nvPr/>
        </p:nvSpPr>
        <p:spPr>
          <a:xfrm>
            <a:off x="4046982" y="5298441"/>
            <a:ext cx="972185" cy="45720"/>
          </a:xfrm>
          <a:custGeom>
            <a:avLst/>
            <a:gdLst/>
            <a:ahLst/>
            <a:cxnLst/>
            <a:rect l="l" t="t" r="r" b="b"/>
            <a:pathLst>
              <a:path w="972185" h="45720">
                <a:moveTo>
                  <a:pt x="971956" y="0"/>
                </a:moveTo>
                <a:lnTo>
                  <a:pt x="0" y="0"/>
                </a:lnTo>
                <a:lnTo>
                  <a:pt x="0" y="45718"/>
                </a:lnTo>
                <a:lnTo>
                  <a:pt x="971956" y="45718"/>
                </a:lnTo>
                <a:lnTo>
                  <a:pt x="971956" y="0"/>
                </a:lnTo>
                <a:close/>
              </a:path>
            </a:pathLst>
          </a:custGeom>
          <a:solidFill>
            <a:srgbClr val="D7D7D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Título 17">
            <a:extLst>
              <a:ext uri="{FF2B5EF4-FFF2-40B4-BE49-F238E27FC236}">
                <a16:creationId xmlns:a16="http://schemas.microsoft.com/office/drawing/2014/main" id="{57A3224E-13A2-33A2-C2B4-47984C5648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5496" y="400104"/>
            <a:ext cx="6445250" cy="677108"/>
          </a:xfrm>
        </p:spPr>
        <p:txBody>
          <a:bodyPr/>
          <a:lstStyle/>
          <a:p>
            <a:r>
              <a:rPr lang="es-CO" sz="4400" dirty="0"/>
              <a:t>Ficha técnica </a:t>
            </a:r>
          </a:p>
        </p:txBody>
      </p:sp>
      <p:pic>
        <p:nvPicPr>
          <p:cNvPr id="2" name="Marcador de contenido 4">
            <a:extLst>
              <a:ext uri="{FF2B5EF4-FFF2-40B4-BE49-F238E27FC236}">
                <a16:creationId xmlns:a16="http://schemas.microsoft.com/office/drawing/2014/main" id="{DC675F9D-A1B7-2FDB-A7BF-783104742C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3444" y="1503846"/>
            <a:ext cx="3738125" cy="5156034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2A92D1D9-8B01-320C-A3B9-760E1B693F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566347"/>
            <a:ext cx="4008659" cy="5257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315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6D6007-0813-4532-F756-744EA2502C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>
            <a:extLst>
              <a:ext uri="{FF2B5EF4-FFF2-40B4-BE49-F238E27FC236}">
                <a16:creationId xmlns:a16="http://schemas.microsoft.com/office/drawing/2014/main" id="{2EC89EB4-53E3-2E1C-DF53-4BF4BDEF14B8}"/>
              </a:ext>
            </a:extLst>
          </p:cNvPr>
          <p:cNvSpPr/>
          <p:nvPr/>
        </p:nvSpPr>
        <p:spPr>
          <a:xfrm>
            <a:off x="4046982" y="5298441"/>
            <a:ext cx="972185" cy="45720"/>
          </a:xfrm>
          <a:custGeom>
            <a:avLst/>
            <a:gdLst/>
            <a:ahLst/>
            <a:cxnLst/>
            <a:rect l="l" t="t" r="r" b="b"/>
            <a:pathLst>
              <a:path w="972185" h="45720">
                <a:moveTo>
                  <a:pt x="971956" y="0"/>
                </a:moveTo>
                <a:lnTo>
                  <a:pt x="0" y="0"/>
                </a:lnTo>
                <a:lnTo>
                  <a:pt x="0" y="45718"/>
                </a:lnTo>
                <a:lnTo>
                  <a:pt x="971956" y="45718"/>
                </a:lnTo>
                <a:lnTo>
                  <a:pt x="971956" y="0"/>
                </a:lnTo>
                <a:close/>
              </a:path>
            </a:pathLst>
          </a:custGeom>
          <a:solidFill>
            <a:srgbClr val="D7D7D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Título 17">
            <a:extLst>
              <a:ext uri="{FF2B5EF4-FFF2-40B4-BE49-F238E27FC236}">
                <a16:creationId xmlns:a16="http://schemas.microsoft.com/office/drawing/2014/main" id="{FC16834A-04FE-D85E-27B8-FE8E043ACE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5496" y="400104"/>
            <a:ext cx="8400904" cy="677108"/>
          </a:xfrm>
        </p:spPr>
        <p:txBody>
          <a:bodyPr/>
          <a:lstStyle/>
          <a:p>
            <a:r>
              <a:rPr lang="en-US" sz="4400" kern="1200" dirty="0"/>
              <a:t>Estimación de Costos: capex </a:t>
            </a:r>
            <a:endParaRPr lang="es-CO" sz="4400" dirty="0"/>
          </a:p>
        </p:txBody>
      </p:sp>
      <p:pic>
        <p:nvPicPr>
          <p:cNvPr id="5" name="Imagen 4" descr="Interfaz de usuario gráfica, Aplicación&#10;&#10;El contenido generado por IA puede ser incorrecto.">
            <a:extLst>
              <a:ext uri="{FF2B5EF4-FFF2-40B4-BE49-F238E27FC236}">
                <a16:creationId xmlns:a16="http://schemas.microsoft.com/office/drawing/2014/main" id="{0A270652-390B-DF66-9A3D-E3C779B1C5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0" t="18000" r="3125" b="15538"/>
          <a:stretch>
            <a:fillRect/>
          </a:stretch>
        </p:blipFill>
        <p:spPr>
          <a:xfrm>
            <a:off x="50800" y="2825947"/>
            <a:ext cx="12090400" cy="1280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64339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1B13D1-8D72-CB74-48F7-8AD76DFC9D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>
            <a:extLst>
              <a:ext uri="{FF2B5EF4-FFF2-40B4-BE49-F238E27FC236}">
                <a16:creationId xmlns:a16="http://schemas.microsoft.com/office/drawing/2014/main" id="{D19280E9-168D-9DD3-6A9A-DFE3800EB572}"/>
              </a:ext>
            </a:extLst>
          </p:cNvPr>
          <p:cNvSpPr/>
          <p:nvPr/>
        </p:nvSpPr>
        <p:spPr>
          <a:xfrm>
            <a:off x="4046982" y="5298441"/>
            <a:ext cx="972185" cy="45720"/>
          </a:xfrm>
          <a:custGeom>
            <a:avLst/>
            <a:gdLst/>
            <a:ahLst/>
            <a:cxnLst/>
            <a:rect l="l" t="t" r="r" b="b"/>
            <a:pathLst>
              <a:path w="972185" h="45720">
                <a:moveTo>
                  <a:pt x="971956" y="0"/>
                </a:moveTo>
                <a:lnTo>
                  <a:pt x="0" y="0"/>
                </a:lnTo>
                <a:lnTo>
                  <a:pt x="0" y="45718"/>
                </a:lnTo>
                <a:lnTo>
                  <a:pt x="971956" y="45718"/>
                </a:lnTo>
                <a:lnTo>
                  <a:pt x="971956" y="0"/>
                </a:lnTo>
                <a:close/>
              </a:path>
            </a:pathLst>
          </a:custGeom>
          <a:solidFill>
            <a:srgbClr val="D7D7D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Título 17">
            <a:extLst>
              <a:ext uri="{FF2B5EF4-FFF2-40B4-BE49-F238E27FC236}">
                <a16:creationId xmlns:a16="http://schemas.microsoft.com/office/drawing/2014/main" id="{5F0C1C8D-24E6-3762-BAEF-02027518D9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5496" y="400104"/>
            <a:ext cx="8400904" cy="677108"/>
          </a:xfrm>
        </p:spPr>
        <p:txBody>
          <a:bodyPr/>
          <a:lstStyle/>
          <a:p>
            <a:r>
              <a:rPr lang="en-US" sz="4400" kern="1200" dirty="0"/>
              <a:t>Estimación de Costos: opex  </a:t>
            </a:r>
            <a:endParaRPr lang="es-CO" sz="4400" dirty="0"/>
          </a:p>
        </p:txBody>
      </p:sp>
      <p:pic>
        <p:nvPicPr>
          <p:cNvPr id="2" name="Imagen 1" descr="Tabla&#10;&#10;Descripción generada automáticamente">
            <a:extLst>
              <a:ext uri="{FF2B5EF4-FFF2-40B4-BE49-F238E27FC236}">
                <a16:creationId xmlns:a16="http://schemas.microsoft.com/office/drawing/2014/main" id="{B341EDF0-3180-EDE8-0B21-5B3FFC5F81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564" y="2590800"/>
            <a:ext cx="11548872" cy="23097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74174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1FFDBF-EC2A-6258-5A5B-B04DC8E218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>
            <a:extLst>
              <a:ext uri="{FF2B5EF4-FFF2-40B4-BE49-F238E27FC236}">
                <a16:creationId xmlns:a16="http://schemas.microsoft.com/office/drawing/2014/main" id="{D501AAA7-6A9A-1A43-45EF-2592556DE34E}"/>
              </a:ext>
            </a:extLst>
          </p:cNvPr>
          <p:cNvSpPr/>
          <p:nvPr/>
        </p:nvSpPr>
        <p:spPr>
          <a:xfrm>
            <a:off x="4046982" y="5298441"/>
            <a:ext cx="972185" cy="45720"/>
          </a:xfrm>
          <a:custGeom>
            <a:avLst/>
            <a:gdLst/>
            <a:ahLst/>
            <a:cxnLst/>
            <a:rect l="l" t="t" r="r" b="b"/>
            <a:pathLst>
              <a:path w="972185" h="45720">
                <a:moveTo>
                  <a:pt x="971956" y="0"/>
                </a:moveTo>
                <a:lnTo>
                  <a:pt x="0" y="0"/>
                </a:lnTo>
                <a:lnTo>
                  <a:pt x="0" y="45718"/>
                </a:lnTo>
                <a:lnTo>
                  <a:pt x="971956" y="45718"/>
                </a:lnTo>
                <a:lnTo>
                  <a:pt x="971956" y="0"/>
                </a:lnTo>
                <a:close/>
              </a:path>
            </a:pathLst>
          </a:custGeom>
          <a:solidFill>
            <a:srgbClr val="D7D7D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Título 17">
            <a:extLst>
              <a:ext uri="{FF2B5EF4-FFF2-40B4-BE49-F238E27FC236}">
                <a16:creationId xmlns:a16="http://schemas.microsoft.com/office/drawing/2014/main" id="{66FD6628-319A-3314-29D0-FA9CD3769E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5496" y="400104"/>
            <a:ext cx="8400904" cy="677108"/>
          </a:xfrm>
        </p:spPr>
        <p:txBody>
          <a:bodyPr/>
          <a:lstStyle/>
          <a:p>
            <a:r>
              <a:rPr lang="en-US" sz="4400" kern="1200" dirty="0"/>
              <a:t>Graficos </a:t>
            </a:r>
            <a:r>
              <a:rPr lang="en-US" sz="4400" dirty="0"/>
              <a:t>de e</a:t>
            </a:r>
            <a:r>
              <a:rPr lang="en-US" sz="4400" kern="1200" dirty="0"/>
              <a:t>stimación de costos </a:t>
            </a:r>
            <a:endParaRPr lang="es-CO" sz="4400" dirty="0"/>
          </a:p>
        </p:txBody>
      </p:sp>
      <p:graphicFrame>
        <p:nvGraphicFramePr>
          <p:cNvPr id="3" name="Chart 1">
            <a:extLst>
              <a:ext uri="{FF2B5EF4-FFF2-40B4-BE49-F238E27FC236}">
                <a16:creationId xmlns:a16="http://schemas.microsoft.com/office/drawing/2014/main" id="{D60908D4-D984-D84D-9AB9-455F3818D58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27723145"/>
              </p:ext>
            </p:extLst>
          </p:nvPr>
        </p:nvGraphicFramePr>
        <p:xfrm>
          <a:off x="228600" y="2438400"/>
          <a:ext cx="5400000" cy="270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4" name="Chart 2">
            <a:extLst>
              <a:ext uri="{FF2B5EF4-FFF2-40B4-BE49-F238E27FC236}">
                <a16:creationId xmlns:a16="http://schemas.microsoft.com/office/drawing/2014/main" id="{00000000-0008-0000-0400-00000300000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18263411"/>
              </p:ext>
            </p:extLst>
          </p:nvPr>
        </p:nvGraphicFramePr>
        <p:xfrm>
          <a:off x="6596400" y="2209800"/>
          <a:ext cx="5400000" cy="270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3114254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CA87C3-E4AC-0C05-C0F8-F4A459CBE0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>
            <a:extLst>
              <a:ext uri="{FF2B5EF4-FFF2-40B4-BE49-F238E27FC236}">
                <a16:creationId xmlns:a16="http://schemas.microsoft.com/office/drawing/2014/main" id="{75D2236C-5744-C7D6-03C3-BAF7DF6907DA}"/>
              </a:ext>
            </a:extLst>
          </p:cNvPr>
          <p:cNvSpPr/>
          <p:nvPr/>
        </p:nvSpPr>
        <p:spPr>
          <a:xfrm>
            <a:off x="4046982" y="5298441"/>
            <a:ext cx="972185" cy="45720"/>
          </a:xfrm>
          <a:custGeom>
            <a:avLst/>
            <a:gdLst/>
            <a:ahLst/>
            <a:cxnLst/>
            <a:rect l="l" t="t" r="r" b="b"/>
            <a:pathLst>
              <a:path w="972185" h="45720">
                <a:moveTo>
                  <a:pt x="971956" y="0"/>
                </a:moveTo>
                <a:lnTo>
                  <a:pt x="0" y="0"/>
                </a:lnTo>
                <a:lnTo>
                  <a:pt x="0" y="45718"/>
                </a:lnTo>
                <a:lnTo>
                  <a:pt x="971956" y="45718"/>
                </a:lnTo>
                <a:lnTo>
                  <a:pt x="971956" y="0"/>
                </a:lnTo>
                <a:close/>
              </a:path>
            </a:pathLst>
          </a:custGeom>
          <a:solidFill>
            <a:srgbClr val="D7D7D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Título 17">
            <a:extLst>
              <a:ext uri="{FF2B5EF4-FFF2-40B4-BE49-F238E27FC236}">
                <a16:creationId xmlns:a16="http://schemas.microsoft.com/office/drawing/2014/main" id="{88DE41CF-1775-1529-92B1-2A02A091DE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5496" y="400104"/>
            <a:ext cx="8400904" cy="615553"/>
          </a:xfrm>
        </p:spPr>
        <p:txBody>
          <a:bodyPr/>
          <a:lstStyle/>
          <a:p>
            <a:r>
              <a:rPr lang="es-ES" sz="4000" dirty="0"/>
              <a:t>Análisis comparativo de proveedores </a:t>
            </a:r>
            <a:endParaRPr lang="es-CO" sz="5400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E8BE0331-2D81-4BAE-32C9-BBC3B4DFC8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05" y="2895600"/>
            <a:ext cx="11979389" cy="873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91357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7C953E-23F9-286D-B20E-3AAE1641D4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>
            <a:extLst>
              <a:ext uri="{FF2B5EF4-FFF2-40B4-BE49-F238E27FC236}">
                <a16:creationId xmlns:a16="http://schemas.microsoft.com/office/drawing/2014/main" id="{D462DBED-888F-E77D-4762-E4A1E97002D6}"/>
              </a:ext>
            </a:extLst>
          </p:cNvPr>
          <p:cNvSpPr/>
          <p:nvPr/>
        </p:nvSpPr>
        <p:spPr>
          <a:xfrm>
            <a:off x="4046982" y="5298441"/>
            <a:ext cx="972185" cy="45720"/>
          </a:xfrm>
          <a:custGeom>
            <a:avLst/>
            <a:gdLst/>
            <a:ahLst/>
            <a:cxnLst/>
            <a:rect l="l" t="t" r="r" b="b"/>
            <a:pathLst>
              <a:path w="972185" h="45720">
                <a:moveTo>
                  <a:pt x="971956" y="0"/>
                </a:moveTo>
                <a:lnTo>
                  <a:pt x="0" y="0"/>
                </a:lnTo>
                <a:lnTo>
                  <a:pt x="0" y="45718"/>
                </a:lnTo>
                <a:lnTo>
                  <a:pt x="971956" y="45718"/>
                </a:lnTo>
                <a:lnTo>
                  <a:pt x="971956" y="0"/>
                </a:lnTo>
                <a:close/>
              </a:path>
            </a:pathLst>
          </a:custGeom>
          <a:solidFill>
            <a:srgbClr val="D7D7D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Título 17">
            <a:extLst>
              <a:ext uri="{FF2B5EF4-FFF2-40B4-BE49-F238E27FC236}">
                <a16:creationId xmlns:a16="http://schemas.microsoft.com/office/drawing/2014/main" id="{73B3D85D-8EC3-27FE-38D2-99CA40C62C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5496" y="400104"/>
            <a:ext cx="8400904" cy="830997"/>
          </a:xfrm>
        </p:spPr>
        <p:txBody>
          <a:bodyPr/>
          <a:lstStyle/>
          <a:p>
            <a:r>
              <a:rPr lang="es-CO" sz="5400" dirty="0"/>
              <a:t>Estimación de costos </a:t>
            </a:r>
          </a:p>
        </p:txBody>
      </p:sp>
      <p:pic>
        <p:nvPicPr>
          <p:cNvPr id="2" name="Imagen 1" descr="Tabla&#10;&#10;Descripción generada automáticamente">
            <a:extLst>
              <a:ext uri="{FF2B5EF4-FFF2-40B4-BE49-F238E27FC236}">
                <a16:creationId xmlns:a16="http://schemas.microsoft.com/office/drawing/2014/main" id="{40C0D261-28D4-0819-5113-8BBF0D361B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564" y="2274113"/>
            <a:ext cx="11548872" cy="23097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40890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3856FA-4460-4146-D68D-C09C91DAD3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>
            <a:extLst>
              <a:ext uri="{FF2B5EF4-FFF2-40B4-BE49-F238E27FC236}">
                <a16:creationId xmlns:a16="http://schemas.microsoft.com/office/drawing/2014/main" id="{20DEAC8F-F54F-A7C5-4D66-FA39ACE7A651}"/>
              </a:ext>
            </a:extLst>
          </p:cNvPr>
          <p:cNvSpPr/>
          <p:nvPr/>
        </p:nvSpPr>
        <p:spPr>
          <a:xfrm>
            <a:off x="4046982" y="5298441"/>
            <a:ext cx="972185" cy="45720"/>
          </a:xfrm>
          <a:custGeom>
            <a:avLst/>
            <a:gdLst/>
            <a:ahLst/>
            <a:cxnLst/>
            <a:rect l="l" t="t" r="r" b="b"/>
            <a:pathLst>
              <a:path w="972185" h="45720">
                <a:moveTo>
                  <a:pt x="971956" y="0"/>
                </a:moveTo>
                <a:lnTo>
                  <a:pt x="0" y="0"/>
                </a:lnTo>
                <a:lnTo>
                  <a:pt x="0" y="45718"/>
                </a:lnTo>
                <a:lnTo>
                  <a:pt x="971956" y="45718"/>
                </a:lnTo>
                <a:lnTo>
                  <a:pt x="971956" y="0"/>
                </a:lnTo>
                <a:close/>
              </a:path>
            </a:pathLst>
          </a:custGeom>
          <a:solidFill>
            <a:srgbClr val="D7D7D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Título 17">
            <a:extLst>
              <a:ext uri="{FF2B5EF4-FFF2-40B4-BE49-F238E27FC236}">
                <a16:creationId xmlns:a16="http://schemas.microsoft.com/office/drawing/2014/main" id="{BCA5822C-80B1-D263-8439-18212E4C84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5496" y="400104"/>
            <a:ext cx="8400904" cy="677108"/>
          </a:xfrm>
        </p:spPr>
        <p:txBody>
          <a:bodyPr/>
          <a:lstStyle/>
          <a:p>
            <a:r>
              <a:rPr lang="en-US" sz="4400" dirty="0"/>
              <a:t>Matriz de calificación </a:t>
            </a:r>
            <a:endParaRPr lang="es-CO" sz="6000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2780D5A8-44E2-6FF4-701B-1D4A8A008A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564" y="2793813"/>
            <a:ext cx="11548872" cy="1270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44187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C8889A-1813-FCBE-7423-14B071BF2C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>
            <a:extLst>
              <a:ext uri="{FF2B5EF4-FFF2-40B4-BE49-F238E27FC236}">
                <a16:creationId xmlns:a16="http://schemas.microsoft.com/office/drawing/2014/main" id="{2E105C37-E4FD-44B1-AFA3-3BFD042D865B}"/>
              </a:ext>
            </a:extLst>
          </p:cNvPr>
          <p:cNvSpPr/>
          <p:nvPr/>
        </p:nvSpPr>
        <p:spPr>
          <a:xfrm>
            <a:off x="4046982" y="5298441"/>
            <a:ext cx="972185" cy="45720"/>
          </a:xfrm>
          <a:custGeom>
            <a:avLst/>
            <a:gdLst/>
            <a:ahLst/>
            <a:cxnLst/>
            <a:rect l="l" t="t" r="r" b="b"/>
            <a:pathLst>
              <a:path w="972185" h="45720">
                <a:moveTo>
                  <a:pt x="971956" y="0"/>
                </a:moveTo>
                <a:lnTo>
                  <a:pt x="0" y="0"/>
                </a:lnTo>
                <a:lnTo>
                  <a:pt x="0" y="45718"/>
                </a:lnTo>
                <a:lnTo>
                  <a:pt x="971956" y="45718"/>
                </a:lnTo>
                <a:lnTo>
                  <a:pt x="971956" y="0"/>
                </a:lnTo>
                <a:close/>
              </a:path>
            </a:pathLst>
          </a:custGeom>
          <a:solidFill>
            <a:srgbClr val="D7D7D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Título 17">
            <a:extLst>
              <a:ext uri="{FF2B5EF4-FFF2-40B4-BE49-F238E27FC236}">
                <a16:creationId xmlns:a16="http://schemas.microsoft.com/office/drawing/2014/main" id="{BEF845A4-61B2-DA86-B6AD-000ECD54D0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5496" y="400104"/>
            <a:ext cx="8400904" cy="677108"/>
          </a:xfrm>
        </p:spPr>
        <p:txBody>
          <a:bodyPr/>
          <a:lstStyle/>
          <a:p>
            <a:r>
              <a:rPr lang="es-CO" sz="4400" dirty="0"/>
              <a:t>Diagrama de clases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E9A79591-5A7B-07E3-39C9-1B8B1B87A9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7598" y="1600200"/>
            <a:ext cx="9516803" cy="4334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009854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444C2C-E6B8-0F7C-2C37-1504F9076C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>
            <a:extLst>
              <a:ext uri="{FF2B5EF4-FFF2-40B4-BE49-F238E27FC236}">
                <a16:creationId xmlns:a16="http://schemas.microsoft.com/office/drawing/2014/main" id="{98271577-4942-5082-D0B2-FA46CF74C1C0}"/>
              </a:ext>
            </a:extLst>
          </p:cNvPr>
          <p:cNvSpPr/>
          <p:nvPr/>
        </p:nvSpPr>
        <p:spPr>
          <a:xfrm>
            <a:off x="4046982" y="5298441"/>
            <a:ext cx="972185" cy="45720"/>
          </a:xfrm>
          <a:custGeom>
            <a:avLst/>
            <a:gdLst/>
            <a:ahLst/>
            <a:cxnLst/>
            <a:rect l="l" t="t" r="r" b="b"/>
            <a:pathLst>
              <a:path w="972185" h="45720">
                <a:moveTo>
                  <a:pt x="971956" y="0"/>
                </a:moveTo>
                <a:lnTo>
                  <a:pt x="0" y="0"/>
                </a:lnTo>
                <a:lnTo>
                  <a:pt x="0" y="45718"/>
                </a:lnTo>
                <a:lnTo>
                  <a:pt x="971956" y="45718"/>
                </a:lnTo>
                <a:lnTo>
                  <a:pt x="971956" y="0"/>
                </a:lnTo>
                <a:close/>
              </a:path>
            </a:pathLst>
          </a:custGeom>
          <a:solidFill>
            <a:srgbClr val="D7D7D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Título 17">
            <a:extLst>
              <a:ext uri="{FF2B5EF4-FFF2-40B4-BE49-F238E27FC236}">
                <a16:creationId xmlns:a16="http://schemas.microsoft.com/office/drawing/2014/main" id="{D0F99F70-D4C6-4BFC-869F-DB2DC6DA73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5496" y="400104"/>
            <a:ext cx="8400904" cy="677108"/>
          </a:xfrm>
        </p:spPr>
        <p:txBody>
          <a:bodyPr/>
          <a:lstStyle/>
          <a:p>
            <a:r>
              <a:rPr lang="es-CO" sz="4400" dirty="0"/>
              <a:t>Diagrama de despliegue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EB0F0ECE-57A8-7C09-BB2A-3992FDA9F8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2714" y="1539239"/>
            <a:ext cx="4286572" cy="47736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132816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0DD0AA-65B6-6B00-9320-43B1FF6F18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>
            <a:extLst>
              <a:ext uri="{FF2B5EF4-FFF2-40B4-BE49-F238E27FC236}">
                <a16:creationId xmlns:a16="http://schemas.microsoft.com/office/drawing/2014/main" id="{5DFE5643-D1BE-B73D-77E5-D1305EDBEBC0}"/>
              </a:ext>
            </a:extLst>
          </p:cNvPr>
          <p:cNvSpPr/>
          <p:nvPr/>
        </p:nvSpPr>
        <p:spPr>
          <a:xfrm>
            <a:off x="4046982" y="5298441"/>
            <a:ext cx="972185" cy="45720"/>
          </a:xfrm>
          <a:custGeom>
            <a:avLst/>
            <a:gdLst/>
            <a:ahLst/>
            <a:cxnLst/>
            <a:rect l="l" t="t" r="r" b="b"/>
            <a:pathLst>
              <a:path w="972185" h="45720">
                <a:moveTo>
                  <a:pt x="971956" y="0"/>
                </a:moveTo>
                <a:lnTo>
                  <a:pt x="0" y="0"/>
                </a:lnTo>
                <a:lnTo>
                  <a:pt x="0" y="45718"/>
                </a:lnTo>
                <a:lnTo>
                  <a:pt x="971956" y="45718"/>
                </a:lnTo>
                <a:lnTo>
                  <a:pt x="971956" y="0"/>
                </a:lnTo>
                <a:close/>
              </a:path>
            </a:pathLst>
          </a:custGeom>
          <a:solidFill>
            <a:srgbClr val="D7D7D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Título 17">
            <a:extLst>
              <a:ext uri="{FF2B5EF4-FFF2-40B4-BE49-F238E27FC236}">
                <a16:creationId xmlns:a16="http://schemas.microsoft.com/office/drawing/2014/main" id="{B3C74E99-891D-217E-5DC5-6E59B03B04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33400"/>
            <a:ext cx="11201400" cy="553998"/>
          </a:xfrm>
        </p:spPr>
        <p:txBody>
          <a:bodyPr/>
          <a:lstStyle/>
          <a:p>
            <a:r>
              <a:rPr lang="es-ES" sz="3600" b="1" dirty="0"/>
              <a:t>Prototipo manejable del software en HTML y React</a:t>
            </a:r>
            <a:endParaRPr lang="es-CO" sz="3600" dirty="0"/>
          </a:p>
        </p:txBody>
      </p:sp>
      <p:pic>
        <p:nvPicPr>
          <p:cNvPr id="2" name="Imagen 1" descr="Interfaz de usuario gráfica, Sitio web&#10;&#10;Descripción generada automáticamente">
            <a:extLst>
              <a:ext uri="{FF2B5EF4-FFF2-40B4-BE49-F238E27FC236}">
                <a16:creationId xmlns:a16="http://schemas.microsoft.com/office/drawing/2014/main" id="{696DC826-65F8-0034-1BEE-93B821ED36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8824" y="2351314"/>
            <a:ext cx="8614352" cy="4354286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184D1D25-AA64-DC81-1A37-09E11C49C60A}"/>
              </a:ext>
            </a:extLst>
          </p:cNvPr>
          <p:cNvSpPr txBox="1"/>
          <p:nvPr/>
        </p:nvSpPr>
        <p:spPr>
          <a:xfrm>
            <a:off x="2977243" y="1583451"/>
            <a:ext cx="62375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s-ES" b="1" dirty="0"/>
              <a:t>Pagina principal </a:t>
            </a:r>
          </a:p>
        </p:txBody>
      </p:sp>
    </p:spTree>
    <p:extLst>
      <p:ext uri="{BB962C8B-B14F-4D97-AF65-F5344CB8AC3E}">
        <p14:creationId xmlns:p14="http://schemas.microsoft.com/office/powerpoint/2010/main" val="210264184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AA1F98-7B91-90D1-7B8D-241F7339CE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>
            <a:extLst>
              <a:ext uri="{FF2B5EF4-FFF2-40B4-BE49-F238E27FC236}">
                <a16:creationId xmlns:a16="http://schemas.microsoft.com/office/drawing/2014/main" id="{3379BC23-2BA4-F011-71CC-E79FAC75B49F}"/>
              </a:ext>
            </a:extLst>
          </p:cNvPr>
          <p:cNvSpPr/>
          <p:nvPr/>
        </p:nvSpPr>
        <p:spPr>
          <a:xfrm>
            <a:off x="4046982" y="5298441"/>
            <a:ext cx="972185" cy="45720"/>
          </a:xfrm>
          <a:custGeom>
            <a:avLst/>
            <a:gdLst/>
            <a:ahLst/>
            <a:cxnLst/>
            <a:rect l="l" t="t" r="r" b="b"/>
            <a:pathLst>
              <a:path w="972185" h="45720">
                <a:moveTo>
                  <a:pt x="971956" y="0"/>
                </a:moveTo>
                <a:lnTo>
                  <a:pt x="0" y="0"/>
                </a:lnTo>
                <a:lnTo>
                  <a:pt x="0" y="45718"/>
                </a:lnTo>
                <a:lnTo>
                  <a:pt x="971956" y="45718"/>
                </a:lnTo>
                <a:lnTo>
                  <a:pt x="971956" y="0"/>
                </a:lnTo>
                <a:close/>
              </a:path>
            </a:pathLst>
          </a:custGeom>
          <a:solidFill>
            <a:srgbClr val="D7D7D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Título 17">
            <a:extLst>
              <a:ext uri="{FF2B5EF4-FFF2-40B4-BE49-F238E27FC236}">
                <a16:creationId xmlns:a16="http://schemas.microsoft.com/office/drawing/2014/main" id="{6B503714-796D-DE5A-4C99-684BFFBD20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33400"/>
            <a:ext cx="11201400" cy="553998"/>
          </a:xfrm>
        </p:spPr>
        <p:txBody>
          <a:bodyPr/>
          <a:lstStyle/>
          <a:p>
            <a:r>
              <a:rPr lang="es-ES" sz="3600" b="1" dirty="0"/>
              <a:t>Prototipo manejable del software en HTML y React</a:t>
            </a:r>
            <a:endParaRPr lang="es-CO" sz="3600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5BD69F62-0ABC-7B6F-6C76-80CAFD0B0FAD}"/>
              </a:ext>
            </a:extLst>
          </p:cNvPr>
          <p:cNvSpPr txBox="1"/>
          <p:nvPr/>
        </p:nvSpPr>
        <p:spPr>
          <a:xfrm>
            <a:off x="2977243" y="1583451"/>
            <a:ext cx="623751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b="1" dirty="0"/>
              <a:t>Inicio de sesión </a:t>
            </a:r>
          </a:p>
          <a:p>
            <a:pPr marL="0" indent="0" algn="ctr">
              <a:buNone/>
            </a:pPr>
            <a:endParaRPr lang="es-ES" dirty="0"/>
          </a:p>
        </p:txBody>
      </p:sp>
      <p:pic>
        <p:nvPicPr>
          <p:cNvPr id="3" name="Imagen 2" descr="Interfaz de usuario gráfica, Aplicación&#10;&#10;Descripción generada automáticamente">
            <a:extLst>
              <a:ext uri="{FF2B5EF4-FFF2-40B4-BE49-F238E27FC236}">
                <a16:creationId xmlns:a16="http://schemas.microsoft.com/office/drawing/2014/main" id="{B31979DA-CD75-C327-55FE-4321716AF0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2718" y="2124664"/>
            <a:ext cx="8386563" cy="4232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07298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D6A87E-4EA5-2661-108A-BF184728FC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>
            <a:extLst>
              <a:ext uri="{FF2B5EF4-FFF2-40B4-BE49-F238E27FC236}">
                <a16:creationId xmlns:a16="http://schemas.microsoft.com/office/drawing/2014/main" id="{DE0CA8FF-27E9-AEA2-7DC7-4A9BFF5B8384}"/>
              </a:ext>
            </a:extLst>
          </p:cNvPr>
          <p:cNvSpPr/>
          <p:nvPr/>
        </p:nvSpPr>
        <p:spPr>
          <a:xfrm>
            <a:off x="4046982" y="5298441"/>
            <a:ext cx="972185" cy="45720"/>
          </a:xfrm>
          <a:custGeom>
            <a:avLst/>
            <a:gdLst/>
            <a:ahLst/>
            <a:cxnLst/>
            <a:rect l="l" t="t" r="r" b="b"/>
            <a:pathLst>
              <a:path w="972185" h="45720">
                <a:moveTo>
                  <a:pt x="971956" y="0"/>
                </a:moveTo>
                <a:lnTo>
                  <a:pt x="0" y="0"/>
                </a:lnTo>
                <a:lnTo>
                  <a:pt x="0" y="45718"/>
                </a:lnTo>
                <a:lnTo>
                  <a:pt x="971956" y="45718"/>
                </a:lnTo>
                <a:lnTo>
                  <a:pt x="971956" y="0"/>
                </a:lnTo>
                <a:close/>
              </a:path>
            </a:pathLst>
          </a:custGeom>
          <a:solidFill>
            <a:srgbClr val="D7D7D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Título 17">
            <a:extLst>
              <a:ext uri="{FF2B5EF4-FFF2-40B4-BE49-F238E27FC236}">
                <a16:creationId xmlns:a16="http://schemas.microsoft.com/office/drawing/2014/main" id="{6AEA8A40-176F-C009-562F-028279547F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33400"/>
            <a:ext cx="11201400" cy="553998"/>
          </a:xfrm>
        </p:spPr>
        <p:txBody>
          <a:bodyPr/>
          <a:lstStyle/>
          <a:p>
            <a:r>
              <a:rPr lang="es-ES" sz="3600" b="1" dirty="0"/>
              <a:t>Prototipo manejable del software en HTML y React</a:t>
            </a:r>
            <a:endParaRPr lang="es-CO" sz="3600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D4871AA9-43B2-DF90-2EB0-90E1A817F314}"/>
              </a:ext>
            </a:extLst>
          </p:cNvPr>
          <p:cNvSpPr txBox="1"/>
          <p:nvPr/>
        </p:nvSpPr>
        <p:spPr>
          <a:xfrm>
            <a:off x="2977243" y="1583451"/>
            <a:ext cx="623751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b="1" dirty="0"/>
              <a:t>Crear usuarios</a:t>
            </a:r>
          </a:p>
          <a:p>
            <a:pPr marL="0" indent="0" algn="ctr">
              <a:buNone/>
            </a:pPr>
            <a:endParaRPr lang="es-ES" dirty="0"/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7809DE0F-FF5E-7E28-F908-6B7A01D734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5862" y="1981200"/>
            <a:ext cx="9820275" cy="4603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48029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409D66-9111-E1C4-ADAC-7338C56146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>
            <a:extLst>
              <a:ext uri="{FF2B5EF4-FFF2-40B4-BE49-F238E27FC236}">
                <a16:creationId xmlns:a16="http://schemas.microsoft.com/office/drawing/2014/main" id="{14258A55-D329-AAAD-BDAA-20CA9F769961}"/>
              </a:ext>
            </a:extLst>
          </p:cNvPr>
          <p:cNvSpPr/>
          <p:nvPr/>
        </p:nvSpPr>
        <p:spPr>
          <a:xfrm>
            <a:off x="4046982" y="5298441"/>
            <a:ext cx="972185" cy="45720"/>
          </a:xfrm>
          <a:custGeom>
            <a:avLst/>
            <a:gdLst/>
            <a:ahLst/>
            <a:cxnLst/>
            <a:rect l="l" t="t" r="r" b="b"/>
            <a:pathLst>
              <a:path w="972185" h="45720">
                <a:moveTo>
                  <a:pt x="971956" y="0"/>
                </a:moveTo>
                <a:lnTo>
                  <a:pt x="0" y="0"/>
                </a:lnTo>
                <a:lnTo>
                  <a:pt x="0" y="45718"/>
                </a:lnTo>
                <a:lnTo>
                  <a:pt x="971956" y="45718"/>
                </a:lnTo>
                <a:lnTo>
                  <a:pt x="971956" y="0"/>
                </a:lnTo>
                <a:close/>
              </a:path>
            </a:pathLst>
          </a:custGeom>
          <a:solidFill>
            <a:srgbClr val="D7D7D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Título 17">
            <a:extLst>
              <a:ext uri="{FF2B5EF4-FFF2-40B4-BE49-F238E27FC236}">
                <a16:creationId xmlns:a16="http://schemas.microsoft.com/office/drawing/2014/main" id="{DA651284-EF03-BC1E-BE67-D17FE4537B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33400"/>
            <a:ext cx="11201400" cy="553998"/>
          </a:xfrm>
        </p:spPr>
        <p:txBody>
          <a:bodyPr/>
          <a:lstStyle/>
          <a:p>
            <a:r>
              <a:rPr lang="es-ES" sz="3600" b="1" dirty="0"/>
              <a:t>Prototipo manejable del software en HTML y React</a:t>
            </a:r>
            <a:endParaRPr lang="es-CO" sz="3600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52EC253C-C0E8-1AC7-FDBE-AB5D7BB8AD48}"/>
              </a:ext>
            </a:extLst>
          </p:cNvPr>
          <p:cNvSpPr txBox="1"/>
          <p:nvPr/>
        </p:nvSpPr>
        <p:spPr>
          <a:xfrm>
            <a:off x="2977243" y="1583451"/>
            <a:ext cx="623751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b="1" dirty="0"/>
              <a:t>Editar usuarios </a:t>
            </a:r>
          </a:p>
          <a:p>
            <a:pPr marL="0" indent="0" algn="ctr">
              <a:buNone/>
            </a:pPr>
            <a:endParaRPr lang="es-ES" dirty="0"/>
          </a:p>
        </p:txBody>
      </p:sp>
      <p:pic>
        <p:nvPicPr>
          <p:cNvPr id="3" name="Imagen 2" descr="Interfaz de usuario gráfica, Aplicación, Teams&#10;&#10;Descripción generada automáticamente">
            <a:extLst>
              <a:ext uri="{FF2B5EF4-FFF2-40B4-BE49-F238E27FC236}">
                <a16:creationId xmlns:a16="http://schemas.microsoft.com/office/drawing/2014/main" id="{DFED43A6-BC52-A337-0709-AC025F5777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8767" y="2025967"/>
            <a:ext cx="9054465" cy="4527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420025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785749-0F7A-943D-BC38-1AF470E93E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>
            <a:extLst>
              <a:ext uri="{FF2B5EF4-FFF2-40B4-BE49-F238E27FC236}">
                <a16:creationId xmlns:a16="http://schemas.microsoft.com/office/drawing/2014/main" id="{0510ED93-BF2F-38FF-0C9D-D7974567D6DE}"/>
              </a:ext>
            </a:extLst>
          </p:cNvPr>
          <p:cNvSpPr/>
          <p:nvPr/>
        </p:nvSpPr>
        <p:spPr>
          <a:xfrm>
            <a:off x="4046982" y="5298441"/>
            <a:ext cx="972185" cy="45720"/>
          </a:xfrm>
          <a:custGeom>
            <a:avLst/>
            <a:gdLst/>
            <a:ahLst/>
            <a:cxnLst/>
            <a:rect l="l" t="t" r="r" b="b"/>
            <a:pathLst>
              <a:path w="972185" h="45720">
                <a:moveTo>
                  <a:pt x="971956" y="0"/>
                </a:moveTo>
                <a:lnTo>
                  <a:pt x="0" y="0"/>
                </a:lnTo>
                <a:lnTo>
                  <a:pt x="0" y="45718"/>
                </a:lnTo>
                <a:lnTo>
                  <a:pt x="971956" y="45718"/>
                </a:lnTo>
                <a:lnTo>
                  <a:pt x="971956" y="0"/>
                </a:lnTo>
                <a:close/>
              </a:path>
            </a:pathLst>
          </a:custGeom>
          <a:solidFill>
            <a:srgbClr val="D7D7D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Título 17">
            <a:extLst>
              <a:ext uri="{FF2B5EF4-FFF2-40B4-BE49-F238E27FC236}">
                <a16:creationId xmlns:a16="http://schemas.microsoft.com/office/drawing/2014/main" id="{ABFE99C0-9078-01A9-E404-D83692D9C0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33400"/>
            <a:ext cx="11201400" cy="553998"/>
          </a:xfrm>
        </p:spPr>
        <p:txBody>
          <a:bodyPr/>
          <a:lstStyle/>
          <a:p>
            <a:r>
              <a:rPr lang="es-ES" sz="3600" b="1" dirty="0"/>
              <a:t>Prototipo manejable del software en HTML y React</a:t>
            </a:r>
            <a:endParaRPr lang="es-CO" sz="3600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03528CF1-9350-5216-0B77-9352B4F9FABA}"/>
              </a:ext>
            </a:extLst>
          </p:cNvPr>
          <p:cNvSpPr txBox="1"/>
          <p:nvPr/>
        </p:nvSpPr>
        <p:spPr>
          <a:xfrm>
            <a:off x="2977243" y="1583451"/>
            <a:ext cx="623751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b="1" dirty="0"/>
              <a:t>Gestión de usuarios </a:t>
            </a:r>
          </a:p>
          <a:p>
            <a:pPr algn="ctr"/>
            <a:endParaRPr lang="es-ES" dirty="0"/>
          </a:p>
          <a:p>
            <a:pPr marL="0" indent="0" algn="ctr">
              <a:buNone/>
            </a:pPr>
            <a:endParaRPr lang="es-ES" dirty="0"/>
          </a:p>
        </p:txBody>
      </p:sp>
      <p:pic>
        <p:nvPicPr>
          <p:cNvPr id="2" name="Imagen 1" descr="Interfaz de usuario gráfica, Aplicación&#10;&#10;Descripción generada automáticamente">
            <a:extLst>
              <a:ext uri="{FF2B5EF4-FFF2-40B4-BE49-F238E27FC236}">
                <a16:creationId xmlns:a16="http://schemas.microsoft.com/office/drawing/2014/main" id="{91BFC520-1669-B201-A3EA-4362603D8E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1041" y="1998483"/>
            <a:ext cx="9409917" cy="4624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036566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23FBDC-BE33-6240-9C2E-6A407AF3D6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>
            <a:extLst>
              <a:ext uri="{FF2B5EF4-FFF2-40B4-BE49-F238E27FC236}">
                <a16:creationId xmlns:a16="http://schemas.microsoft.com/office/drawing/2014/main" id="{C682CDCC-18E4-2BC3-0B7A-E8A3C017CB7C}"/>
              </a:ext>
            </a:extLst>
          </p:cNvPr>
          <p:cNvSpPr/>
          <p:nvPr/>
        </p:nvSpPr>
        <p:spPr>
          <a:xfrm>
            <a:off x="4046982" y="5298441"/>
            <a:ext cx="972185" cy="45720"/>
          </a:xfrm>
          <a:custGeom>
            <a:avLst/>
            <a:gdLst/>
            <a:ahLst/>
            <a:cxnLst/>
            <a:rect l="l" t="t" r="r" b="b"/>
            <a:pathLst>
              <a:path w="972185" h="45720">
                <a:moveTo>
                  <a:pt x="971956" y="0"/>
                </a:moveTo>
                <a:lnTo>
                  <a:pt x="0" y="0"/>
                </a:lnTo>
                <a:lnTo>
                  <a:pt x="0" y="45718"/>
                </a:lnTo>
                <a:lnTo>
                  <a:pt x="971956" y="45718"/>
                </a:lnTo>
                <a:lnTo>
                  <a:pt x="971956" y="0"/>
                </a:lnTo>
                <a:close/>
              </a:path>
            </a:pathLst>
          </a:custGeom>
          <a:solidFill>
            <a:srgbClr val="D7D7D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Título 17">
            <a:extLst>
              <a:ext uri="{FF2B5EF4-FFF2-40B4-BE49-F238E27FC236}">
                <a16:creationId xmlns:a16="http://schemas.microsoft.com/office/drawing/2014/main" id="{3755A686-2A38-C045-2AC5-7AF4C99B4C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33400"/>
            <a:ext cx="11201400" cy="553998"/>
          </a:xfrm>
        </p:spPr>
        <p:txBody>
          <a:bodyPr/>
          <a:lstStyle/>
          <a:p>
            <a:r>
              <a:rPr lang="es-ES" sz="3600" b="1" dirty="0"/>
              <a:t>Prototipo manejable del software en HTML y React</a:t>
            </a:r>
            <a:endParaRPr lang="es-CO" sz="3600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9726086F-A693-4FCE-10A6-15AD28773105}"/>
              </a:ext>
            </a:extLst>
          </p:cNvPr>
          <p:cNvSpPr txBox="1"/>
          <p:nvPr/>
        </p:nvSpPr>
        <p:spPr>
          <a:xfrm>
            <a:off x="2977243" y="1583451"/>
            <a:ext cx="623751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b="1" dirty="0"/>
              <a:t>Ajustes de usuarios </a:t>
            </a:r>
          </a:p>
          <a:p>
            <a:pPr algn="ctr"/>
            <a:endParaRPr lang="es-ES" dirty="0"/>
          </a:p>
          <a:p>
            <a:pPr marL="0" indent="0" algn="ctr">
              <a:buNone/>
            </a:pPr>
            <a:endParaRPr lang="es-ES" dirty="0"/>
          </a:p>
        </p:txBody>
      </p:sp>
      <p:pic>
        <p:nvPicPr>
          <p:cNvPr id="3" name="Imagen 2" descr="Interfaz de usuario gráfica, Aplicación&#10;&#10;Descripción generada automáticamente">
            <a:extLst>
              <a:ext uri="{FF2B5EF4-FFF2-40B4-BE49-F238E27FC236}">
                <a16:creationId xmlns:a16="http://schemas.microsoft.com/office/drawing/2014/main" id="{D887A652-308E-4B58-7770-803D1F57D6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7594" y="2034230"/>
            <a:ext cx="9576812" cy="4661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176792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A6C3BF-EEB2-C644-DDDB-C2F0076268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>
            <a:extLst>
              <a:ext uri="{FF2B5EF4-FFF2-40B4-BE49-F238E27FC236}">
                <a16:creationId xmlns:a16="http://schemas.microsoft.com/office/drawing/2014/main" id="{1546B80E-B22C-5AF2-AD1A-E941DA848516}"/>
              </a:ext>
            </a:extLst>
          </p:cNvPr>
          <p:cNvSpPr/>
          <p:nvPr/>
        </p:nvSpPr>
        <p:spPr>
          <a:xfrm>
            <a:off x="4046982" y="5298441"/>
            <a:ext cx="972185" cy="45720"/>
          </a:xfrm>
          <a:custGeom>
            <a:avLst/>
            <a:gdLst/>
            <a:ahLst/>
            <a:cxnLst/>
            <a:rect l="l" t="t" r="r" b="b"/>
            <a:pathLst>
              <a:path w="972185" h="45720">
                <a:moveTo>
                  <a:pt x="971956" y="0"/>
                </a:moveTo>
                <a:lnTo>
                  <a:pt x="0" y="0"/>
                </a:lnTo>
                <a:lnTo>
                  <a:pt x="0" y="45718"/>
                </a:lnTo>
                <a:lnTo>
                  <a:pt x="971956" y="45718"/>
                </a:lnTo>
                <a:lnTo>
                  <a:pt x="971956" y="0"/>
                </a:lnTo>
                <a:close/>
              </a:path>
            </a:pathLst>
          </a:custGeom>
          <a:solidFill>
            <a:srgbClr val="D7D7D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Título 17">
            <a:extLst>
              <a:ext uri="{FF2B5EF4-FFF2-40B4-BE49-F238E27FC236}">
                <a16:creationId xmlns:a16="http://schemas.microsoft.com/office/drawing/2014/main" id="{FCB94BAD-26C7-6F1B-9331-9093EEAA87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33400"/>
            <a:ext cx="11201400" cy="553998"/>
          </a:xfrm>
        </p:spPr>
        <p:txBody>
          <a:bodyPr/>
          <a:lstStyle/>
          <a:p>
            <a:r>
              <a:rPr lang="es-ES" sz="3600" b="1" dirty="0"/>
              <a:t>Prototipo manejable del software en HTML y React</a:t>
            </a:r>
            <a:endParaRPr lang="es-CO" sz="3600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19F099F6-F541-9193-E85F-569DF065AF94}"/>
              </a:ext>
            </a:extLst>
          </p:cNvPr>
          <p:cNvSpPr txBox="1"/>
          <p:nvPr/>
        </p:nvSpPr>
        <p:spPr>
          <a:xfrm>
            <a:off x="2977243" y="1583451"/>
            <a:ext cx="623751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b="1" dirty="0"/>
              <a:t>Productos pagina principal </a:t>
            </a:r>
          </a:p>
          <a:p>
            <a:pPr algn="ctr"/>
            <a:endParaRPr lang="es-ES" dirty="0"/>
          </a:p>
          <a:p>
            <a:pPr marL="0" indent="0" algn="ctr">
              <a:buNone/>
            </a:pPr>
            <a:endParaRPr lang="es-ES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ED808F04-946D-A907-9459-C42D5B5D61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2077773"/>
            <a:ext cx="9906000" cy="4629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903099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D071CD-B72F-84F6-0F88-636894A406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>
            <a:extLst>
              <a:ext uri="{FF2B5EF4-FFF2-40B4-BE49-F238E27FC236}">
                <a16:creationId xmlns:a16="http://schemas.microsoft.com/office/drawing/2014/main" id="{D5043C2A-167B-9C86-653D-2D60EBDF81FD}"/>
              </a:ext>
            </a:extLst>
          </p:cNvPr>
          <p:cNvSpPr/>
          <p:nvPr/>
        </p:nvSpPr>
        <p:spPr>
          <a:xfrm>
            <a:off x="4046982" y="5298441"/>
            <a:ext cx="972185" cy="45720"/>
          </a:xfrm>
          <a:custGeom>
            <a:avLst/>
            <a:gdLst/>
            <a:ahLst/>
            <a:cxnLst/>
            <a:rect l="l" t="t" r="r" b="b"/>
            <a:pathLst>
              <a:path w="972185" h="45720">
                <a:moveTo>
                  <a:pt x="971956" y="0"/>
                </a:moveTo>
                <a:lnTo>
                  <a:pt x="0" y="0"/>
                </a:lnTo>
                <a:lnTo>
                  <a:pt x="0" y="45718"/>
                </a:lnTo>
                <a:lnTo>
                  <a:pt x="971956" y="45718"/>
                </a:lnTo>
                <a:lnTo>
                  <a:pt x="971956" y="0"/>
                </a:lnTo>
                <a:close/>
              </a:path>
            </a:pathLst>
          </a:custGeom>
          <a:solidFill>
            <a:srgbClr val="D7D7D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Título 17">
            <a:extLst>
              <a:ext uri="{FF2B5EF4-FFF2-40B4-BE49-F238E27FC236}">
                <a16:creationId xmlns:a16="http://schemas.microsoft.com/office/drawing/2014/main" id="{74B53B87-EA6F-52DC-1EA7-0163D77E9F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33400"/>
            <a:ext cx="11201400" cy="553998"/>
          </a:xfrm>
        </p:spPr>
        <p:txBody>
          <a:bodyPr/>
          <a:lstStyle/>
          <a:p>
            <a:r>
              <a:rPr lang="es-ES" sz="3600" b="1" dirty="0"/>
              <a:t>Prototipo manejable del software en HTML y React</a:t>
            </a:r>
            <a:endParaRPr lang="es-CO" sz="3600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B150C2C1-C8D4-8651-1487-3A9503036BA1}"/>
              </a:ext>
            </a:extLst>
          </p:cNvPr>
          <p:cNvSpPr txBox="1"/>
          <p:nvPr/>
        </p:nvSpPr>
        <p:spPr>
          <a:xfrm>
            <a:off x="2977243" y="1583451"/>
            <a:ext cx="623751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b="1" dirty="0"/>
              <a:t>Carro de compras</a:t>
            </a:r>
          </a:p>
          <a:p>
            <a:pPr algn="ctr"/>
            <a:endParaRPr lang="es-ES" dirty="0"/>
          </a:p>
          <a:p>
            <a:pPr marL="0" indent="0" algn="ctr">
              <a:buNone/>
            </a:pPr>
            <a:endParaRPr lang="es-ES" dirty="0"/>
          </a:p>
        </p:txBody>
      </p:sp>
      <p:pic>
        <p:nvPicPr>
          <p:cNvPr id="2" name="Imagen 1" descr="Interfaz de usuario gráfica, Sitio web&#10;&#10;Descripción generada automáticamente">
            <a:extLst>
              <a:ext uri="{FF2B5EF4-FFF2-40B4-BE49-F238E27FC236}">
                <a16:creationId xmlns:a16="http://schemas.microsoft.com/office/drawing/2014/main" id="{E9EBC51E-6F67-AA83-DB1F-8F914D3371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796" y="2007385"/>
            <a:ext cx="10118408" cy="4687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37771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D7E34D-1A8B-9540-53A4-A7B6CE3BE2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>
            <a:extLst>
              <a:ext uri="{FF2B5EF4-FFF2-40B4-BE49-F238E27FC236}">
                <a16:creationId xmlns:a16="http://schemas.microsoft.com/office/drawing/2014/main" id="{FE1740DC-40C4-0AE2-8426-9FAA47D776C8}"/>
              </a:ext>
            </a:extLst>
          </p:cNvPr>
          <p:cNvSpPr/>
          <p:nvPr/>
        </p:nvSpPr>
        <p:spPr>
          <a:xfrm>
            <a:off x="4046982" y="5298441"/>
            <a:ext cx="972185" cy="45720"/>
          </a:xfrm>
          <a:custGeom>
            <a:avLst/>
            <a:gdLst/>
            <a:ahLst/>
            <a:cxnLst/>
            <a:rect l="l" t="t" r="r" b="b"/>
            <a:pathLst>
              <a:path w="972185" h="45720">
                <a:moveTo>
                  <a:pt x="971956" y="0"/>
                </a:moveTo>
                <a:lnTo>
                  <a:pt x="0" y="0"/>
                </a:lnTo>
                <a:lnTo>
                  <a:pt x="0" y="45718"/>
                </a:lnTo>
                <a:lnTo>
                  <a:pt x="971956" y="45718"/>
                </a:lnTo>
                <a:lnTo>
                  <a:pt x="971956" y="0"/>
                </a:lnTo>
                <a:close/>
              </a:path>
            </a:pathLst>
          </a:custGeom>
          <a:solidFill>
            <a:srgbClr val="D7D7D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Título 17">
            <a:extLst>
              <a:ext uri="{FF2B5EF4-FFF2-40B4-BE49-F238E27FC236}">
                <a16:creationId xmlns:a16="http://schemas.microsoft.com/office/drawing/2014/main" id="{526694F4-EB34-B73A-7212-E7157D43C2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33400"/>
            <a:ext cx="11201400" cy="553998"/>
          </a:xfrm>
        </p:spPr>
        <p:txBody>
          <a:bodyPr/>
          <a:lstStyle/>
          <a:p>
            <a:r>
              <a:rPr lang="es-ES" sz="3600" b="1" dirty="0"/>
              <a:t>Prototipo manejable del software en HTML y React</a:t>
            </a:r>
            <a:endParaRPr lang="es-CO" sz="3600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43577A5E-985F-3E19-2175-DB6C6E64AF6E}"/>
              </a:ext>
            </a:extLst>
          </p:cNvPr>
          <p:cNvSpPr txBox="1"/>
          <p:nvPr/>
        </p:nvSpPr>
        <p:spPr>
          <a:xfrm>
            <a:off x="2977243" y="1583451"/>
            <a:ext cx="623751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b="1" dirty="0"/>
              <a:t>Información de contacto</a:t>
            </a:r>
          </a:p>
          <a:p>
            <a:pPr algn="ctr"/>
            <a:endParaRPr lang="es-ES" dirty="0"/>
          </a:p>
          <a:p>
            <a:pPr marL="0" indent="0" algn="ctr">
              <a:buNone/>
            </a:pPr>
            <a:endParaRPr lang="es-ES" dirty="0"/>
          </a:p>
        </p:txBody>
      </p:sp>
      <p:pic>
        <p:nvPicPr>
          <p:cNvPr id="3" name="Imagen 2" descr="Interfaz de usuario gráfica, Texto&#10;&#10;Descripción generada automáticamente">
            <a:extLst>
              <a:ext uri="{FF2B5EF4-FFF2-40B4-BE49-F238E27FC236}">
                <a16:creationId xmlns:a16="http://schemas.microsoft.com/office/drawing/2014/main" id="{2830E3C6-E3F4-8458-2076-AF2F6796CC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7132" y="2045116"/>
            <a:ext cx="9317736" cy="4622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12587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1999" cy="685799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462C1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58</TotalTime>
  <Words>950</Words>
  <Application>Microsoft Office PowerPoint</Application>
  <PresentationFormat>Panorámica</PresentationFormat>
  <Paragraphs>70</Paragraphs>
  <Slides>28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28</vt:i4>
      </vt:variant>
    </vt:vector>
  </HeadingPairs>
  <TitlesOfParts>
    <vt:vector size="32" baseType="lpstr">
      <vt:lpstr>Arial</vt:lpstr>
      <vt:lpstr>Arial MT</vt:lpstr>
      <vt:lpstr>Trebuchet MS</vt:lpstr>
      <vt:lpstr>Office Theme</vt:lpstr>
      <vt:lpstr>KN STORE</vt:lpstr>
      <vt:lpstr>KN STORE</vt:lpstr>
      <vt:lpstr>Introducción</vt:lpstr>
      <vt:lpstr>Objetivo General</vt:lpstr>
      <vt:lpstr>Objetivos Específicos</vt:lpstr>
      <vt:lpstr>Planteamiento del Problema</vt:lpstr>
      <vt:lpstr>Pregunta Problema</vt:lpstr>
      <vt:lpstr>Alcance</vt:lpstr>
      <vt:lpstr>Justificación</vt:lpstr>
      <vt:lpstr>Ficha técnica </vt:lpstr>
      <vt:lpstr>Estimación de Costos: capex </vt:lpstr>
      <vt:lpstr>Estimación de Costos: opex  </vt:lpstr>
      <vt:lpstr>Graficos de estimación de costos </vt:lpstr>
      <vt:lpstr>Análisis comparativo de proveedores </vt:lpstr>
      <vt:lpstr>Estimación de costos </vt:lpstr>
      <vt:lpstr>Matriz de calificación </vt:lpstr>
      <vt:lpstr>Diagrama de clases</vt:lpstr>
      <vt:lpstr>Diagrama de despliegue</vt:lpstr>
      <vt:lpstr>Prototipo manejable del software en HTML y React</vt:lpstr>
      <vt:lpstr>Prototipo manejable del software en HTML y React</vt:lpstr>
      <vt:lpstr>Prototipo manejable del software en HTML y React</vt:lpstr>
      <vt:lpstr>Prototipo manejable del software en HTML y React</vt:lpstr>
      <vt:lpstr>Prototipo manejable del software en HTML y React</vt:lpstr>
      <vt:lpstr>Prototipo manejable del software en HTML y React</vt:lpstr>
      <vt:lpstr>Prototipo manejable del software en HTML y React</vt:lpstr>
      <vt:lpstr>Prototipo manejable del software en HTML y React</vt:lpstr>
      <vt:lpstr>Prototipo manejable del software en HTML y React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SENA</dc:creator>
  <cp:lastModifiedBy>laura gonzalez ortiz</cp:lastModifiedBy>
  <cp:revision>4</cp:revision>
  <dcterms:created xsi:type="dcterms:W3CDTF">2024-09-04T23:51:21Z</dcterms:created>
  <dcterms:modified xsi:type="dcterms:W3CDTF">2025-12-17T03:10:12Z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2024-09-04T00:00:00Z</vt:filetime>
  </property>
  <property fmtid="{D5CDD505-2E9C-101B-9397-08002B2CF9AE}" pid="3" name="Creator">
    <vt:lpwstr>Microsoft® PowerPoint® para Microsoft 365</vt:lpwstr>
  </property>
  <property fmtid="{D5CDD505-2E9C-101B-9397-08002B2CF9AE}" pid="4" name="LastSaved">
    <vt:filetime>2024-09-04T00:00:00Z</vt:filetime>
  </property>
  <property fmtid="{D5CDD505-2E9C-101B-9397-08002B2CF9AE}" pid="5" name="MSIP_Label_a76c2f31-3199-4c12-b982-c92587099853_ContentBits">
    <vt:lpwstr>0</vt:lpwstr>
  </property>
  <property fmtid="{D5CDD505-2E9C-101B-9397-08002B2CF9AE}" pid="6" name="MSIP_Label_a76c2f31-3199-4c12-b982-c92587099853_Enabled">
    <vt:lpwstr>true</vt:lpwstr>
  </property>
  <property fmtid="{D5CDD505-2E9C-101B-9397-08002B2CF9AE}" pid="7" name="MSIP_Label_a76c2f31-3199-4c12-b982-c92587099853_Method">
    <vt:lpwstr>Privileged</vt:lpwstr>
  </property>
  <property fmtid="{D5CDD505-2E9C-101B-9397-08002B2CF9AE}" pid="8" name="MSIP_Label_a76c2f31-3199-4c12-b982-c92587099853_SiteId">
    <vt:lpwstr>22e95ac8-1e3b-4edf-92da-03d573857579</vt:lpwstr>
  </property>
  <property fmtid="{D5CDD505-2E9C-101B-9397-08002B2CF9AE}" pid="9" name="Producer">
    <vt:lpwstr>Microsoft® PowerPoint® para Microsoft 365</vt:lpwstr>
  </property>
</Properties>
</file>